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4610"/>
  </p:normalViewPr>
  <p:slideViewPr>
    <p:cSldViewPr snapToGrid="0" snapToObjects="1">
      <p:cViewPr>
        <p:scale>
          <a:sx n="133" d="100"/>
          <a:sy n="133" d="100"/>
        </p:scale>
        <p:origin x="1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81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29025" y="0"/>
            <a:ext cx="28575" cy="51435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2925" y="1035844"/>
            <a:ext cx="2571750" cy="2571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78719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9814" y="3893344"/>
            <a:ext cx="9179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SCAN ME!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4086225" y="428625"/>
            <a:ext cx="4629150" cy="2625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086225" y="676870"/>
            <a:ext cx="4629150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438448"/>
            <a:ext cx="107156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50531" y="428625"/>
            <a:ext cx="217527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ARCHITECTURE &amp; GOVERNANCE</a:t>
            </a:r>
            <a:endParaRPr lang="en-US" sz="58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436" y="438448"/>
            <a:ext cx="75009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20595" y="428625"/>
            <a:ext cx="109478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</a:t>
            </a:r>
            <a:endParaRPr lang="en-US" sz="584" dirty="0"/>
          </a:p>
        </p:txBody>
      </p:sp>
      <p:sp>
        <p:nvSpPr>
          <p:cNvPr id="14" name="Text 8"/>
          <p:cNvSpPr/>
          <p:nvPr/>
        </p:nvSpPr>
        <p:spPr>
          <a:xfrm>
            <a:off x="4086225" y="1158208"/>
            <a:ext cx="46291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MOBILITY
GOVERNANCE FRAMEWORK</a:t>
            </a:r>
            <a:endParaRPr lang="en-US" sz="2436" dirty="0"/>
          </a:p>
        </p:txBody>
      </p:sp>
      <p:sp>
        <p:nvSpPr>
          <p:cNvPr id="15" name="Text 9"/>
          <p:cNvSpPr/>
          <p:nvPr/>
        </p:nvSpPr>
        <p:spPr>
          <a:xfrm>
            <a:off x="4086225" y="2535473"/>
            <a:ext cx="4629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Governed Integration Architecture for Military Learner Mobility</a:t>
            </a:r>
            <a:endParaRPr lang="en-US" sz="1269" dirty="0"/>
          </a:p>
        </p:txBody>
      </p:sp>
      <p:sp>
        <p:nvSpPr>
          <p:cNvPr id="16" name="Text 10"/>
          <p:cNvSpPr/>
          <p:nvPr/>
        </p:nvSpPr>
        <p:spPr>
          <a:xfrm>
            <a:off x="4086225" y="3194093"/>
            <a:ext cx="4629150" cy="162520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as Deterministic Constraint Infrastructure — Not Decision Automation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086225" y="3837980"/>
            <a:ext cx="4629150" cy="8768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086225" y="3837980"/>
            <a:ext cx="4629150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086225" y="4066580"/>
            <a:ext cx="1671638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Robert McCoy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086225" y="4264819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Indiana Wesleyan University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4086225" y="4414838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M.S. Candidate, AI &amp; Data Analytics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4086225" y="4564856"/>
            <a:ext cx="1671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1, 2026</a:t>
            </a:r>
            <a:endParaRPr lang="en-US" sz="727" dirty="0"/>
          </a:p>
        </p:txBody>
      </p:sp>
      <p:sp>
        <p:nvSpPr>
          <p:cNvPr id="23" name="Text 17"/>
          <p:cNvSpPr/>
          <p:nvPr/>
        </p:nvSpPr>
        <p:spPr>
          <a:xfrm>
            <a:off x="6816923" y="4346972"/>
            <a:ext cx="18984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CCME 2026 SYMPOSIUM</a:t>
            </a:r>
            <a:endParaRPr lang="en-US" sz="683" dirty="0"/>
          </a:p>
        </p:txBody>
      </p:sp>
      <p:sp>
        <p:nvSpPr>
          <p:cNvPr id="24" name="Text 18"/>
          <p:cNvSpPr/>
          <p:nvPr/>
        </p:nvSpPr>
        <p:spPr>
          <a:xfrm>
            <a:off x="6816923" y="4504134"/>
            <a:ext cx="189845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Is Now: Educate, Engage, Empower</a:t>
            </a:r>
            <a:endParaRPr lang="en-US" sz="621" dirty="0"/>
          </a:p>
        </p:txBody>
      </p:sp>
      <p:sp>
        <p:nvSpPr>
          <p:cNvPr id="25" name="Text 19"/>
          <p:cNvSpPr/>
          <p:nvPr/>
        </p:nvSpPr>
        <p:spPr>
          <a:xfrm>
            <a:off x="6816923" y="4609505"/>
            <a:ext cx="189845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1 — Military Learner Mobility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2158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193006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Evidence Behind the Five Pillars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734020"/>
            <a:ext cx="8286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fragmentation across systems requires governed integration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5011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8288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Military Learner Transitions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571500" y="2871788"/>
            <a:ext cx="1257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Fragmentation documented across DoD, VA, and Labor transition systems creates navigation friction.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2114550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114550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636044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775" y="18288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57425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Mobility &amp; Alignment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2257425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variability in wage outcomes and credential signaling across different regions.</a:t>
            </a:r>
            <a:endParaRPr lang="en-US" sz="780" dirty="0"/>
          </a:p>
        </p:txBody>
      </p:sp>
      <p:sp>
        <p:nvSpPr>
          <p:cNvPr id="19" name="Shape 14"/>
          <p:cNvSpPr/>
          <p:nvPr/>
        </p:nvSpPr>
        <p:spPr>
          <a:xfrm>
            <a:off x="380047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80047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32196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182880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43350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Credential Translation</a:t>
            </a:r>
            <a:endParaRPr lang="en-US" sz="885" dirty="0"/>
          </a:p>
        </p:txBody>
      </p:sp>
      <p:sp>
        <p:nvSpPr>
          <p:cNvPr id="24" name="Text 18"/>
          <p:cNvSpPr/>
          <p:nvPr/>
        </p:nvSpPr>
        <p:spPr>
          <a:xfrm>
            <a:off x="3943350" y="2871788"/>
            <a:ext cx="1257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 authority creates inconsistent employer recognition patterns for military skills.</a:t>
            </a:r>
            <a:endParaRPr lang="en-US" sz="780" dirty="0"/>
          </a:p>
        </p:txBody>
      </p:sp>
      <p:sp>
        <p:nvSpPr>
          <p:cNvPr id="25" name="Shape 19"/>
          <p:cNvSpPr/>
          <p:nvPr/>
        </p:nvSpPr>
        <p:spPr>
          <a:xfrm>
            <a:off x="5486400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486400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007894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182880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29275" y="2371725"/>
            <a:ext cx="12573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Advising Tools &amp; Support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5629275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cross-system integration and outcome visibility for advisors supporting transitions.</a:t>
            </a:r>
            <a:endParaRPr lang="en-US" sz="780" dirty="0"/>
          </a:p>
        </p:txBody>
      </p:sp>
      <p:sp>
        <p:nvSpPr>
          <p:cNvPr id="31" name="Shape 24"/>
          <p:cNvSpPr/>
          <p:nvPr/>
        </p:nvSpPr>
        <p:spPr>
          <a:xfrm>
            <a:off x="7172325" y="1478756"/>
            <a:ext cx="1543050" cy="29485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172325" y="1478756"/>
            <a:ext cx="1543050" cy="42863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7693819" y="1693069"/>
            <a:ext cx="500063" cy="500063"/>
          </a:xfrm>
          <a:prstGeom prst="ellipse">
            <a:avLst/>
          </a:prstGeom>
          <a:solidFill>
            <a:srgbClr val="FFF7ED"/>
          </a:solidFill>
          <a:ln w="18288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9550" y="1828800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20558" y="2371725"/>
            <a:ext cx="124658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Voice of the Veteran</a:t>
            </a:r>
            <a:endParaRPr lang="en-US" sz="885" dirty="0"/>
          </a:p>
        </p:txBody>
      </p:sp>
      <p:sp>
        <p:nvSpPr>
          <p:cNvPr id="36" name="Text 28"/>
          <p:cNvSpPr/>
          <p:nvPr/>
        </p:nvSpPr>
        <p:spPr>
          <a:xfrm>
            <a:off x="7315200" y="2871788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barriers in translation, navigation, and equitable access to opportunities.</a:t>
            </a:r>
            <a:endParaRPr lang="en-US" sz="780" dirty="0"/>
          </a:p>
        </p:txBody>
      </p:sp>
      <p:sp>
        <p:nvSpPr>
          <p:cNvPr id="37" name="Shape 29"/>
          <p:cNvSpPr/>
          <p:nvPr/>
        </p:nvSpPr>
        <p:spPr>
          <a:xfrm>
            <a:off x="0" y="4713089"/>
            <a:ext cx="9144000" cy="43041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0" y="4713089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28625" y="4869359"/>
            <a:ext cx="352544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4748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Grounded in national research, federal reporting, and AI governance guidance.</a:t>
            </a:r>
            <a:endParaRPr lang="en-US" sz="727" dirty="0"/>
          </a:p>
        </p:txBody>
      </p:sp>
      <p:sp>
        <p:nvSpPr>
          <p:cNvPr id="40" name="Text 32"/>
          <p:cNvSpPr/>
          <p:nvPr/>
        </p:nvSpPr>
        <p:spPr>
          <a:xfrm>
            <a:off x="8567142" y="4863108"/>
            <a:ext cx="1482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CMGF Architecture: From Fragmentation to Integration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73286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 independent authoritative domains into a coherent decision environment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285750" y="1000125"/>
            <a:ext cx="2074087" cy="36736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8625" y="1143000"/>
            <a:ext cx="1788337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FRAGMENTED ECOSYSTEM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428625" y="1550194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1550194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1550194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Statutory (DoD, VA)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428625" y="1877020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1877020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1877020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Regulatory Boards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428625" y="2203847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8625" y="2203847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8625" y="2203847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Education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428625" y="2530673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25" y="2530673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2530673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Credentialing Bodies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428625" y="2857500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2857500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8625" y="2857500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Systems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428625" y="3184327"/>
            <a:ext cx="1788337" cy="2553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28625" y="3184327"/>
            <a:ext cx="28575" cy="25538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8625" y="3184327"/>
            <a:ext cx="1788337" cy="25538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Market Data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428625" y="4338042"/>
            <a:ext cx="178833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authorities operating without coordinated mediation.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2502712" y="1000125"/>
            <a:ext cx="3725912" cy="3673673"/>
          </a:xfrm>
          <a:prstGeom prst="rect">
            <a:avLst/>
          </a:prstGeom>
          <a:solidFill>
            <a:srgbClr val="FFF7ED"/>
          </a:solidFill>
          <a:ln w="18288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645839" y="1143000"/>
            <a:ext cx="3439576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CMGF INTEGRATION LAYER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2645839" y="1478756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31564" y="1564481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&amp; Guidance Flow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2731564" y="1714500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individual scenarios against governed constraints</a:t>
            </a:r>
            <a:endParaRPr lang="en-US" sz="568" dirty="0"/>
          </a:p>
        </p:txBody>
      </p:sp>
      <p:sp>
        <p:nvSpPr>
          <p:cNvPr id="33" name="Shape 30"/>
          <p:cNvSpPr/>
          <p:nvPr/>
        </p:nvSpPr>
        <p:spPr>
          <a:xfrm>
            <a:off x="2645839" y="1968103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31564" y="2053828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Binding Infrastructure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2731564" y="2203847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Encodes law, policy, and rules into deterministic logic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2645839" y="2457450"/>
            <a:ext cx="3439576" cy="432197"/>
          </a:xfrm>
          <a:prstGeom prst="rect">
            <a:avLst/>
          </a:prstGeom>
          <a:solidFill>
            <a:srgbClr val="FFFFFF"/>
          </a:solidFill>
          <a:ln w="9144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31564" y="2543175"/>
            <a:ext cx="326812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Insight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2731564" y="2693194"/>
            <a:ext cx="326812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68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macro-level visibility into system performance</a:t>
            </a:r>
            <a:endParaRPr lang="en-US" sz="568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839" y="4066580"/>
            <a:ext cx="756679" cy="1285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810759" y="4230886"/>
            <a:ext cx="42683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</a:t>
            </a:r>
            <a:endParaRPr lang="en-US" sz="485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19" y="4066580"/>
            <a:ext cx="756679" cy="12858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784513" y="4230886"/>
            <a:ext cx="267891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485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399" y="4066580"/>
            <a:ext cx="756679" cy="12858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718084" y="4230886"/>
            <a:ext cx="18930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485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679" y="4066580"/>
            <a:ext cx="756679" cy="128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586468" y="4230886"/>
            <a:ext cx="24110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485" dirty="0"/>
          </a:p>
        </p:txBody>
      </p:sp>
      <p:sp>
        <p:nvSpPr>
          <p:cNvPr id="47" name="Text 40"/>
          <p:cNvSpPr/>
          <p:nvPr/>
        </p:nvSpPr>
        <p:spPr>
          <a:xfrm>
            <a:off x="2645839" y="4425553"/>
            <a:ext cx="343957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Source of Truth Through Governed Federation</a:t>
            </a:r>
            <a:endParaRPr lang="en-US" sz="584" dirty="0"/>
          </a:p>
        </p:txBody>
      </p:sp>
      <p:sp>
        <p:nvSpPr>
          <p:cNvPr id="48" name="Shape 41"/>
          <p:cNvSpPr/>
          <p:nvPr/>
        </p:nvSpPr>
        <p:spPr>
          <a:xfrm>
            <a:off x="6371165" y="1000125"/>
            <a:ext cx="2487085" cy="367367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6514040" y="1143000"/>
            <a:ext cx="2201335" cy="2286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 ENVIRONMENT</a:t>
            </a:r>
            <a:endParaRPr lang="en-US" sz="784" dirty="0"/>
          </a:p>
        </p:txBody>
      </p:sp>
      <p:sp>
        <p:nvSpPr>
          <p:cNvPr id="50" name="Shape 43"/>
          <p:cNvSpPr/>
          <p:nvPr/>
        </p:nvSpPr>
        <p:spPr>
          <a:xfrm>
            <a:off x="6514040" y="1478756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6514040" y="1478756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6514040" y="1478756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Coordinated Pathway Visibility</a:t>
            </a:r>
            <a:endParaRPr lang="en-US" sz="621" dirty="0"/>
          </a:p>
        </p:txBody>
      </p:sp>
      <p:sp>
        <p:nvSpPr>
          <p:cNvPr id="53" name="Shape 46"/>
          <p:cNvSpPr/>
          <p:nvPr/>
        </p:nvSpPr>
        <p:spPr>
          <a:xfrm>
            <a:off x="6514040" y="1784152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6514040" y="1784152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6514040" y="1784152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Policy-Aligned Decision Support</a:t>
            </a:r>
            <a:endParaRPr lang="en-US" sz="621" dirty="0"/>
          </a:p>
        </p:txBody>
      </p:sp>
      <p:sp>
        <p:nvSpPr>
          <p:cNvPr id="56" name="Shape 49"/>
          <p:cNvSpPr/>
          <p:nvPr/>
        </p:nvSpPr>
        <p:spPr>
          <a:xfrm>
            <a:off x="6514040" y="2089547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514040" y="2089547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6514040" y="2089547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Signal Derivation</a:t>
            </a:r>
            <a:endParaRPr lang="en-US" sz="621" dirty="0"/>
          </a:p>
        </p:txBody>
      </p:sp>
      <p:sp>
        <p:nvSpPr>
          <p:cNvPr id="59" name="Shape 52"/>
          <p:cNvSpPr/>
          <p:nvPr/>
        </p:nvSpPr>
        <p:spPr>
          <a:xfrm>
            <a:off x="6514040" y="2394942"/>
            <a:ext cx="2201335" cy="24824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6514040" y="2394942"/>
            <a:ext cx="28575" cy="24824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6514040" y="2394942"/>
            <a:ext cx="2201335" cy="24824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Feedback Visibility</a:t>
            </a:r>
            <a:endParaRPr lang="en-US" sz="621" dirty="0"/>
          </a:p>
        </p:txBody>
      </p:sp>
      <p:sp>
        <p:nvSpPr>
          <p:cNvPr id="62" name="Shape 55"/>
          <p:cNvSpPr/>
          <p:nvPr/>
        </p:nvSpPr>
        <p:spPr>
          <a:xfrm>
            <a:off x="6514040" y="3750469"/>
            <a:ext cx="2201335" cy="532209"/>
          </a:xfrm>
          <a:prstGeom prst="rect">
            <a:avLst/>
          </a:prstGeom>
          <a:solidFill>
            <a:srgbClr val="FEF2F2"/>
          </a:solidFill>
          <a:ln w="9144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477" y="3845123"/>
            <a:ext cx="78581" cy="78581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664058" y="3836194"/>
            <a:ext cx="90547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Predictive Modeling</a:t>
            </a:r>
            <a:endParaRPr lang="en-US" sz="534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5477" y="3970139"/>
            <a:ext cx="78581" cy="78581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664058" y="3961209"/>
            <a:ext cx="96262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Automated Decisions</a:t>
            </a:r>
            <a:endParaRPr lang="en-US" sz="534" dirty="0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477" y="4095155"/>
            <a:ext cx="78581" cy="78581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6664058" y="4086225"/>
            <a:ext cx="106084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Optimization Objectives</a:t>
            </a:r>
            <a:endParaRPr lang="en-US" sz="534" dirty="0"/>
          </a:p>
        </p:txBody>
      </p:sp>
      <p:sp>
        <p:nvSpPr>
          <p:cNvPr id="69" name="Shape 59"/>
          <p:cNvSpPr/>
          <p:nvPr/>
        </p:nvSpPr>
        <p:spPr>
          <a:xfrm>
            <a:off x="6514040" y="4282678"/>
            <a:ext cx="2201335" cy="24824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146" y="4363045"/>
            <a:ext cx="85725" cy="85725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6920871" y="4354116"/>
            <a:ext cx="147339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CONTROLS ACTIVE</a:t>
            </a:r>
            <a:endParaRPr lang="en-US" sz="584" dirty="0"/>
          </a:p>
        </p:txBody>
      </p:sp>
      <p:sp>
        <p:nvSpPr>
          <p:cNvPr id="72" name="Shape 61"/>
          <p:cNvSpPr/>
          <p:nvPr/>
        </p:nvSpPr>
        <p:spPr>
          <a:xfrm>
            <a:off x="0" y="4816673"/>
            <a:ext cx="9144000" cy="32682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62"/>
          <p:cNvSpPr/>
          <p:nvPr/>
        </p:nvSpPr>
        <p:spPr>
          <a:xfrm>
            <a:off x="0" y="4816673"/>
            <a:ext cx="9144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3"/>
          <p:cNvSpPr/>
          <p:nvPr/>
        </p:nvSpPr>
        <p:spPr>
          <a:xfrm>
            <a:off x="0" y="4816673"/>
            <a:ext cx="9144000" cy="326827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"Truth originates from authoritative systems of record. CMGF mediates, validates, and explains without creating new authority."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86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900113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CMGF Integration Layer Supporting Track 1 Outcomes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524340"/>
            <a:ext cx="82867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Mapping of Governance Mechanisms to CCME Learner Track Priorities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100138"/>
            <a:ext cx="8286750" cy="325041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CMGF does not replace existing systems; it binds them with governed logic to ensure Track 1 outcomes are met without compliance risk.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14350" y="1510903"/>
            <a:ext cx="324610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CCME TRACK 1 PILLAR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760459" y="1510903"/>
            <a:ext cx="486916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GOVERNANCE MECHANISM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28625" y="1701998"/>
            <a:ext cx="8286750" cy="4586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1701998"/>
            <a:ext cx="3314700" cy="45862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36181" y="1701998"/>
            <a:ext cx="7144" cy="45862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4350" y="1802709"/>
            <a:ext cx="257175" cy="257175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1881290"/>
            <a:ext cx="100013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7250" y="1864323"/>
            <a:ext cx="152697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Military Learner Transitions</a:t>
            </a:r>
            <a:endParaRPr lang="en-US" sz="734" dirty="0"/>
          </a:p>
        </p:txBody>
      </p:sp>
      <p:sp>
        <p:nvSpPr>
          <p:cNvPr id="16" name="Text 12"/>
          <p:cNvSpPr/>
          <p:nvPr/>
        </p:nvSpPr>
        <p:spPr>
          <a:xfrm>
            <a:off x="3829050" y="1787723"/>
            <a:ext cx="4800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Pathway Visibility</a:t>
            </a:r>
            <a:endParaRPr lang="en-US" sz="734" dirty="0"/>
          </a:p>
        </p:txBody>
      </p:sp>
      <p:sp>
        <p:nvSpPr>
          <p:cNvPr id="17" name="Text 13"/>
          <p:cNvSpPr/>
          <p:nvPr/>
        </p:nvSpPr>
        <p:spPr>
          <a:xfrm>
            <a:off x="3829050" y="1944886"/>
            <a:ext cx="48006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learners see all eligible pathways, not just those optimized by an algorithm.</a:t>
            </a:r>
            <a:endParaRPr lang="en-US" sz="674" dirty="0"/>
          </a:p>
        </p:txBody>
      </p:sp>
      <p:sp>
        <p:nvSpPr>
          <p:cNvPr id="18" name="Shape 14"/>
          <p:cNvSpPr/>
          <p:nvPr/>
        </p:nvSpPr>
        <p:spPr>
          <a:xfrm>
            <a:off x="428625" y="2217772"/>
            <a:ext cx="8286750" cy="4586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28625" y="2217772"/>
            <a:ext cx="3314700" cy="45862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736181" y="2217772"/>
            <a:ext cx="7144" cy="45862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4350" y="2318482"/>
            <a:ext cx="257175" cy="257175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31" y="2397063"/>
            <a:ext cx="100013" cy="10001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7250" y="2380097"/>
            <a:ext cx="153054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Mobility &amp; Alignment</a:t>
            </a:r>
            <a:endParaRPr lang="en-US" sz="734" dirty="0"/>
          </a:p>
        </p:txBody>
      </p:sp>
      <p:sp>
        <p:nvSpPr>
          <p:cNvPr id="24" name="Text 19"/>
          <p:cNvSpPr/>
          <p:nvPr/>
        </p:nvSpPr>
        <p:spPr>
          <a:xfrm>
            <a:off x="3829050" y="2303497"/>
            <a:ext cx="4800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Market Data Federation</a:t>
            </a:r>
            <a:endParaRPr lang="en-US" sz="734" dirty="0"/>
          </a:p>
        </p:txBody>
      </p:sp>
      <p:sp>
        <p:nvSpPr>
          <p:cNvPr id="25" name="Text 20"/>
          <p:cNvSpPr/>
          <p:nvPr/>
        </p:nvSpPr>
        <p:spPr>
          <a:xfrm>
            <a:off x="3829050" y="2460659"/>
            <a:ext cx="48006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MOS codes to real-time labor data without storing PII or tracking individuals.</a:t>
            </a:r>
            <a:endParaRPr lang="en-US" sz="674" dirty="0"/>
          </a:p>
        </p:txBody>
      </p:sp>
      <p:sp>
        <p:nvSpPr>
          <p:cNvPr id="26" name="Shape 21"/>
          <p:cNvSpPr/>
          <p:nvPr/>
        </p:nvSpPr>
        <p:spPr>
          <a:xfrm>
            <a:off x="428625" y="2733545"/>
            <a:ext cx="8286750" cy="4586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28625" y="2733545"/>
            <a:ext cx="3314700" cy="45862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3736181" y="2733545"/>
            <a:ext cx="7144" cy="45862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14350" y="2834255"/>
            <a:ext cx="257175" cy="257175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31" y="2912836"/>
            <a:ext cx="100013" cy="10001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57250" y="2895870"/>
            <a:ext cx="119836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Credential Translation</a:t>
            </a:r>
            <a:endParaRPr lang="en-US" sz="734" dirty="0"/>
          </a:p>
        </p:txBody>
      </p:sp>
      <p:sp>
        <p:nvSpPr>
          <p:cNvPr id="32" name="Text 26"/>
          <p:cNvSpPr/>
          <p:nvPr/>
        </p:nvSpPr>
        <p:spPr>
          <a:xfrm>
            <a:off x="3829050" y="2819270"/>
            <a:ext cx="4800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Credit Mapping</a:t>
            </a:r>
            <a:endParaRPr lang="en-US" sz="734" dirty="0"/>
          </a:p>
        </p:txBody>
      </p:sp>
      <p:sp>
        <p:nvSpPr>
          <p:cNvPr id="33" name="Text 27"/>
          <p:cNvSpPr/>
          <p:nvPr/>
        </p:nvSpPr>
        <p:spPr>
          <a:xfrm>
            <a:off x="3829050" y="2976432"/>
            <a:ext cx="48006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statutory authority (Tier A) to guarantee credit transfer, removing ambiguity.</a:t>
            </a:r>
            <a:endParaRPr lang="en-US" sz="674" dirty="0"/>
          </a:p>
        </p:txBody>
      </p:sp>
      <p:sp>
        <p:nvSpPr>
          <p:cNvPr id="34" name="Shape 28"/>
          <p:cNvSpPr/>
          <p:nvPr/>
        </p:nvSpPr>
        <p:spPr>
          <a:xfrm>
            <a:off x="428625" y="3249318"/>
            <a:ext cx="8286750" cy="4586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28625" y="3249318"/>
            <a:ext cx="3314700" cy="45862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736181" y="3249318"/>
            <a:ext cx="7144" cy="45862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14350" y="3350028"/>
            <a:ext cx="257175" cy="257175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31" y="3428609"/>
            <a:ext cx="100013" cy="10001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57250" y="3411643"/>
            <a:ext cx="134838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Advising Tools &amp; Support</a:t>
            </a:r>
            <a:endParaRPr lang="en-US" sz="734" dirty="0"/>
          </a:p>
        </p:txBody>
      </p:sp>
      <p:sp>
        <p:nvSpPr>
          <p:cNvPr id="40" name="Text 33"/>
          <p:cNvSpPr/>
          <p:nvPr/>
        </p:nvSpPr>
        <p:spPr>
          <a:xfrm>
            <a:off x="3829050" y="3335043"/>
            <a:ext cx="4800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Decision Support</a:t>
            </a:r>
            <a:endParaRPr lang="en-US" sz="734" dirty="0"/>
          </a:p>
        </p:txBody>
      </p:sp>
      <p:sp>
        <p:nvSpPr>
          <p:cNvPr id="41" name="Text 34"/>
          <p:cNvSpPr/>
          <p:nvPr/>
        </p:nvSpPr>
        <p:spPr>
          <a:xfrm>
            <a:off x="3829050" y="3492205"/>
            <a:ext cx="48006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surfaces options and conflicts; human advisors retain final approval authority.</a:t>
            </a:r>
            <a:endParaRPr lang="en-US" sz="674" dirty="0"/>
          </a:p>
        </p:txBody>
      </p:sp>
      <p:sp>
        <p:nvSpPr>
          <p:cNvPr id="42" name="Shape 35"/>
          <p:cNvSpPr/>
          <p:nvPr/>
        </p:nvSpPr>
        <p:spPr>
          <a:xfrm>
            <a:off x="428625" y="3765091"/>
            <a:ext cx="8286750" cy="487198"/>
          </a:xfrm>
          <a:prstGeom prst="rect">
            <a:avLst/>
          </a:prstGeom>
          <a:solidFill>
            <a:srgbClr val="FFFFFF"/>
          </a:solidFill>
          <a:ln w="18288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428625" y="3765091"/>
            <a:ext cx="3314700" cy="458623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736181" y="3765091"/>
            <a:ext cx="7144" cy="45862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514350" y="3865801"/>
            <a:ext cx="257175" cy="257175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31" y="3944382"/>
            <a:ext cx="100013" cy="100013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57250" y="3927416"/>
            <a:ext cx="104120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Voice of the Veteran</a:t>
            </a:r>
            <a:endParaRPr lang="en-US" sz="734" dirty="0"/>
          </a:p>
        </p:txBody>
      </p:sp>
      <p:sp>
        <p:nvSpPr>
          <p:cNvPr id="48" name="Text 40"/>
          <p:cNvSpPr/>
          <p:nvPr/>
        </p:nvSpPr>
        <p:spPr>
          <a:xfrm>
            <a:off x="3829050" y="3850816"/>
            <a:ext cx="48006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Decision Authority</a:t>
            </a:r>
            <a:endParaRPr lang="en-US" sz="734" dirty="0"/>
          </a:p>
        </p:txBody>
      </p:sp>
      <p:sp>
        <p:nvSpPr>
          <p:cNvPr id="49" name="Text 41"/>
          <p:cNvSpPr/>
          <p:nvPr/>
        </p:nvSpPr>
        <p:spPr>
          <a:xfrm>
            <a:off x="3829050" y="4007979"/>
            <a:ext cx="48006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prohibited from "nudging" or predicting outcomes; the veteran's choice is final.</a:t>
            </a:r>
            <a:endParaRPr lang="en-US" sz="674" dirty="0"/>
          </a:p>
        </p:txBody>
      </p:sp>
      <p:sp>
        <p:nvSpPr>
          <p:cNvPr id="50" name="Text 42"/>
          <p:cNvSpPr/>
          <p:nvPr/>
        </p:nvSpPr>
        <p:spPr>
          <a:xfrm>
            <a:off x="428625" y="4780955"/>
            <a:ext cx="8286750" cy="19109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"Governance is not a barrier to mobility; it is the infrastructure that makes mobility safe and scalable."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Foundation: Authority Decomposition Model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73286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Constraint Hierarchy for Military Education and Career Mobility Systems</a:t>
            </a:r>
            <a:endParaRPr lang="en-US" sz="942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11" y="1226939"/>
            <a:ext cx="96441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 rot="-5400000">
            <a:off x="-216619" y="1531056"/>
            <a:ext cx="1525191" cy="10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 FLEXIBILITY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 rot="-5400000">
            <a:off x="-195561" y="4328729"/>
            <a:ext cx="1587699" cy="10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 AUTHORITY</a:t>
            </a:r>
            <a:endParaRPr lang="en-US" sz="68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11" y="4643438"/>
            <a:ext cx="96441" cy="12858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57413" y="1446609"/>
            <a:ext cx="6557963" cy="5715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2157413" y="1446609"/>
            <a:ext cx="57150" cy="5715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313" y="1646634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00350" y="1500188"/>
            <a:ext cx="570071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[INFORMATIONAL ONLY]</a:t>
            </a:r>
            <a:endParaRPr lang="en-US" sz="584" dirty="0"/>
          </a:p>
        </p:txBody>
      </p:sp>
      <p:sp>
        <p:nvSpPr>
          <p:cNvPr id="15" name="Text 9"/>
          <p:cNvSpPr/>
          <p:nvPr/>
        </p:nvSpPr>
        <p:spPr>
          <a:xfrm>
            <a:off x="2800350" y="1634133"/>
            <a:ext cx="570071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7556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Tier D — Labor Market Descriptors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2800350" y="1843088"/>
            <a:ext cx="57007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BLS and O*NET Data (Descriptive, not prescriptive)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1909642" y="2125266"/>
            <a:ext cx="6798394" cy="64293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1909642" y="2125266"/>
            <a:ext cx="57150" cy="64293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542" y="2361009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552579" y="2214563"/>
            <a:ext cx="59411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[INSTITUTION-SPECIFIC]</a:t>
            </a:r>
            <a:endParaRPr lang="en-US" sz="584" dirty="0"/>
          </a:p>
        </p:txBody>
      </p:sp>
      <p:sp>
        <p:nvSpPr>
          <p:cNvPr id="21" name="Text 14"/>
          <p:cNvSpPr/>
          <p:nvPr/>
        </p:nvSpPr>
        <p:spPr>
          <a:xfrm>
            <a:off x="2552579" y="2348508"/>
            <a:ext cx="594114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Tier C — Institutional Policies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2552579" y="2557463"/>
            <a:ext cx="59411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Agreements, Degree Requirements, Residency Rules</a:t>
            </a:r>
            <a:endParaRPr lang="en-US" sz="727" dirty="0"/>
          </a:p>
        </p:txBody>
      </p:sp>
      <p:sp>
        <p:nvSpPr>
          <p:cNvPr id="23" name="Shape 16"/>
          <p:cNvSpPr/>
          <p:nvPr/>
        </p:nvSpPr>
        <p:spPr>
          <a:xfrm>
            <a:off x="1669182" y="2875359"/>
            <a:ext cx="7038854" cy="71437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1669182" y="2875359"/>
            <a:ext cx="57150" cy="714375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2082" y="3146822"/>
            <a:ext cx="171450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312119" y="3000375"/>
            <a:ext cx="618160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[CONDITIONAL]</a:t>
            </a:r>
            <a:endParaRPr lang="en-US" sz="584" dirty="0"/>
          </a:p>
        </p:txBody>
      </p:sp>
      <p:sp>
        <p:nvSpPr>
          <p:cNvPr id="27" name="Text 19"/>
          <p:cNvSpPr/>
          <p:nvPr/>
        </p:nvSpPr>
        <p:spPr>
          <a:xfrm>
            <a:off x="2312119" y="3134320"/>
            <a:ext cx="618160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Tier B — Credentialing Standards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>
            <a:off x="2312119" y="3343275"/>
            <a:ext cx="618160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Accreditation Bodies (ACEN, ABET, PMI)</a:t>
            </a:r>
            <a:endParaRPr lang="en-US" sz="727" dirty="0"/>
          </a:p>
        </p:txBody>
      </p:sp>
      <p:sp>
        <p:nvSpPr>
          <p:cNvPr id="29" name="Shape 21"/>
          <p:cNvSpPr/>
          <p:nvPr/>
        </p:nvSpPr>
        <p:spPr>
          <a:xfrm>
            <a:off x="1428750" y="3696891"/>
            <a:ext cx="7286625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1428750" y="3696891"/>
            <a:ext cx="57150" cy="8572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0" y="4039791"/>
            <a:ext cx="171450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071688" y="3876377"/>
            <a:ext cx="642937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[ABSOLUTE]</a:t>
            </a:r>
            <a:endParaRPr lang="en-US" sz="584" dirty="0"/>
          </a:p>
        </p:txBody>
      </p:sp>
      <p:sp>
        <p:nvSpPr>
          <p:cNvPr id="33" name="Text 24"/>
          <p:cNvSpPr/>
          <p:nvPr/>
        </p:nvSpPr>
        <p:spPr>
          <a:xfrm>
            <a:off x="2071688" y="4010323"/>
            <a:ext cx="6429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Tier A — Statutory Authority</a:t>
            </a:r>
            <a:endParaRPr lang="en-US" sz="1193" dirty="0"/>
          </a:p>
        </p:txBody>
      </p:sp>
      <p:sp>
        <p:nvSpPr>
          <p:cNvPr id="34" name="Text 25"/>
          <p:cNvSpPr/>
          <p:nvPr/>
        </p:nvSpPr>
        <p:spPr>
          <a:xfrm>
            <a:off x="2071688" y="4253210"/>
            <a:ext cx="64293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and State Law (e.g., 38 U.S.C. § 3313, DoDI 1322.25)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71450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Governance Alignment: Three Active Federal Pillars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3042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compliance with current national AI policy and risk management standards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1143000"/>
            <a:ext cx="2619384" cy="1092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222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EO 14179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1607344"/>
            <a:ext cx="233363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REMOVING BARRIERS TO AMERICAN LEADERSHIP IN AI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194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20, 2025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2228459"/>
            <a:ext cx="2619384" cy="2063539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80264"/>
            <a:ext cx="105370" cy="785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733" y="237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17" name="Text 13"/>
          <p:cNvSpPr/>
          <p:nvPr/>
        </p:nvSpPr>
        <p:spPr>
          <a:xfrm>
            <a:off x="571500" y="2539212"/>
            <a:ext cx="2333634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Deterministic constraint architecture with preserved human decision authority, aligned to the Administration's mandate to accelerate responsible AI deployment while maintaining safety.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3262322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62322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62322" y="1143000"/>
            <a:ext cx="2619384" cy="1092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262322" y="222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405197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OMB M-25-21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3405197" y="1607344"/>
            <a:ext cx="233363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ACCELERATING FEDERAL USE OF AI THROUGH INNOVATION &amp; TRUST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3405197" y="194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3, 2025</a:t>
            </a:r>
            <a:endParaRPr lang="en-US" sz="621" dirty="0"/>
          </a:p>
        </p:txBody>
      </p:sp>
      <p:sp>
        <p:nvSpPr>
          <p:cNvPr id="25" name="Shape 21"/>
          <p:cNvSpPr/>
          <p:nvPr/>
        </p:nvSpPr>
        <p:spPr>
          <a:xfrm>
            <a:off x="3262322" y="2228459"/>
            <a:ext cx="2619384" cy="2063539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97" y="2380264"/>
            <a:ext cx="85725" cy="7858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33784" y="237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28" name="Text 23"/>
          <p:cNvSpPr/>
          <p:nvPr/>
        </p:nvSpPr>
        <p:spPr>
          <a:xfrm>
            <a:off x="3405197" y="2539212"/>
            <a:ext cx="233363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Authority-tagged signals with traceable constraint logic, mandatory human-in-the-loop authority, and full audit visibility — directly satisfying M-25-21 governance requirements.</a:t>
            </a:r>
            <a:endParaRPr lang="en-US" sz="727" dirty="0"/>
          </a:p>
        </p:txBody>
      </p:sp>
      <p:sp>
        <p:nvSpPr>
          <p:cNvPr id="29" name="Shape 24"/>
          <p:cNvSpPr/>
          <p:nvPr/>
        </p:nvSpPr>
        <p:spPr>
          <a:xfrm>
            <a:off x="6096019" y="1143000"/>
            <a:ext cx="2619384" cy="3148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096019" y="1143000"/>
            <a:ext cx="2619384" cy="571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096019" y="1143000"/>
            <a:ext cx="2619384" cy="9526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096019" y="2088459"/>
            <a:ext cx="2619384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238894" y="1321594"/>
            <a:ext cx="2333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NIST AI RMF</a:t>
            </a:r>
            <a:endParaRPr lang="en-US" sz="1193" dirty="0"/>
          </a:p>
        </p:txBody>
      </p:sp>
      <p:sp>
        <p:nvSpPr>
          <p:cNvPr id="34" name="Text 29"/>
          <p:cNvSpPr/>
          <p:nvPr/>
        </p:nvSpPr>
        <p:spPr>
          <a:xfrm>
            <a:off x="6238894" y="1607344"/>
            <a:ext cx="233363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RISK MANAGEMENT FRAMEWORK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6238894" y="1804495"/>
            <a:ext cx="233363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Trustworthiness &amp; Accountability</a:t>
            </a:r>
            <a:endParaRPr lang="en-US" sz="621" dirty="0"/>
          </a:p>
        </p:txBody>
      </p:sp>
      <p:sp>
        <p:nvSpPr>
          <p:cNvPr id="36" name="Shape 31"/>
          <p:cNvSpPr/>
          <p:nvPr/>
        </p:nvSpPr>
        <p:spPr>
          <a:xfrm>
            <a:off x="6096019" y="2088459"/>
            <a:ext cx="2619384" cy="220354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94" y="2240263"/>
            <a:ext cx="85725" cy="78581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367481" y="2231334"/>
            <a:ext cx="83403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CMGF ALIGNMENT</a:t>
            </a:r>
            <a:endParaRPr lang="en-US" sz="534" dirty="0"/>
          </a:p>
        </p:txBody>
      </p:sp>
      <p:sp>
        <p:nvSpPr>
          <p:cNvPr id="39" name="Text 33"/>
          <p:cNvSpPr/>
          <p:nvPr/>
        </p:nvSpPr>
        <p:spPr>
          <a:xfrm>
            <a:off x="6238894" y="2399212"/>
            <a:ext cx="2333634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Governance controls, audit logging, and deterministic policy enforcement structured explicitly around the NIST AI RMF </a:t>
            </a:r>
            <a:r>
              <a:rPr lang="en-US" sz="727" i="1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Govern-Map-Measure-Manage</a:t>
            </a:r>
            <a:r>
              <a:rPr lang="en-US" sz="727" dirty="0">
                <a:solidFill>
                  <a:srgbClr val="3341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lifecycle.</a:t>
            </a:r>
            <a:endParaRPr lang="en-US" sz="727" dirty="0"/>
          </a:p>
        </p:txBody>
      </p:sp>
      <p:sp>
        <p:nvSpPr>
          <p:cNvPr id="40" name="Shape 34"/>
          <p:cNvSpPr/>
          <p:nvPr/>
        </p:nvSpPr>
        <p:spPr>
          <a:xfrm>
            <a:off x="0" y="4577748"/>
            <a:ext cx="9144000" cy="5657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774899"/>
            <a:ext cx="214313" cy="17145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85813" y="4720623"/>
            <a:ext cx="792956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ED7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Assurance:</a:t>
            </a:r>
            <a:r>
              <a:rPr lang="en-US" sz="7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system signal is traceable to authoritative policy sources while preserving human decision authority. Alignment reduces institutional adoption risk.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 Modules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26864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components of the Career Mobility Governance Framework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143000"/>
            <a:ext cx="2614613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340778" y="1143000"/>
            <a:ext cx="692944" cy="21967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340778" y="1143000"/>
            <a:ext cx="692944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84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66" y="1384102"/>
            <a:ext cx="357188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" y="1810941"/>
            <a:ext cx="2319347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Service Member Hub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71500" y="2027039"/>
            <a:ext cx="23193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portal for education and career planning milestones.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571500" y="2612827"/>
            <a:ext cx="2319347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14" name="Text 10"/>
          <p:cNvSpPr/>
          <p:nvPr/>
        </p:nvSpPr>
        <p:spPr>
          <a:xfrm>
            <a:off x="571500" y="2802136"/>
            <a:ext cx="2319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Members | Veterans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571500" y="3066455"/>
            <a:ext cx="2319347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16" name="Text 12"/>
          <p:cNvSpPr/>
          <p:nvPr/>
        </p:nvSpPr>
        <p:spPr>
          <a:xfrm>
            <a:off x="571500" y="3255764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678656" y="3255764"/>
            <a:ext cx="13144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transition dashboard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571500" y="3425428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678656" y="3425428"/>
            <a:ext cx="12251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milestone tracking</a:t>
            </a:r>
            <a:endParaRPr lang="en-US" sz="674" dirty="0"/>
          </a:p>
        </p:txBody>
      </p:sp>
      <p:sp>
        <p:nvSpPr>
          <p:cNvPr id="20" name="Text 16"/>
          <p:cNvSpPr/>
          <p:nvPr/>
        </p:nvSpPr>
        <p:spPr>
          <a:xfrm>
            <a:off x="571500" y="3595092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21" name="Text 17"/>
          <p:cNvSpPr/>
          <p:nvPr/>
        </p:nvSpPr>
        <p:spPr>
          <a:xfrm>
            <a:off x="678656" y="3595092"/>
            <a:ext cx="9054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translation tools</a:t>
            </a:r>
            <a:endParaRPr lang="en-US" sz="674" dirty="0"/>
          </a:p>
        </p:txBody>
      </p:sp>
      <p:sp>
        <p:nvSpPr>
          <p:cNvPr id="22" name="Shape 18"/>
          <p:cNvSpPr/>
          <p:nvPr/>
        </p:nvSpPr>
        <p:spPr>
          <a:xfrm>
            <a:off x="3248034" y="1143000"/>
            <a:ext cx="2619384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158960" y="1143000"/>
            <a:ext cx="703659" cy="21967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58960" y="1143000"/>
            <a:ext cx="703659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584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810" y="1384102"/>
            <a:ext cx="285750" cy="2857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395653" y="1810941"/>
            <a:ext cx="232409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Services Layer</a:t>
            </a:r>
            <a:endParaRPr lang="en-US" sz="987" dirty="0"/>
          </a:p>
        </p:txBody>
      </p:sp>
      <p:sp>
        <p:nvSpPr>
          <p:cNvPr id="27" name="Text 22"/>
          <p:cNvSpPr/>
          <p:nvPr/>
        </p:nvSpPr>
        <p:spPr>
          <a:xfrm>
            <a:off x="3395653" y="2027039"/>
            <a:ext cx="23240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services providing governed translation and correlation.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3395653" y="2612827"/>
            <a:ext cx="2324091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29" name="Text 24"/>
          <p:cNvSpPr/>
          <p:nvPr/>
        </p:nvSpPr>
        <p:spPr>
          <a:xfrm>
            <a:off x="3395653" y="2802136"/>
            <a:ext cx="23240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Services | ISR | Hub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3395653" y="3066455"/>
            <a:ext cx="2324091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31" name="Text 26"/>
          <p:cNvSpPr/>
          <p:nvPr/>
        </p:nvSpPr>
        <p:spPr>
          <a:xfrm>
            <a:off x="3395653" y="3255764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2" name="Text 27"/>
          <p:cNvSpPr/>
          <p:nvPr/>
        </p:nvSpPr>
        <p:spPr>
          <a:xfrm>
            <a:off x="3502809" y="3255764"/>
            <a:ext cx="128408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Military-to-civilian translation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3395653" y="3425428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4" name="Text 29"/>
          <p:cNvSpPr/>
          <p:nvPr/>
        </p:nvSpPr>
        <p:spPr>
          <a:xfrm>
            <a:off x="3502809" y="3425428"/>
            <a:ext cx="113228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pathway matching</a:t>
            </a:r>
            <a:endParaRPr lang="en-US" sz="674" dirty="0"/>
          </a:p>
        </p:txBody>
      </p:sp>
      <p:sp>
        <p:nvSpPr>
          <p:cNvPr id="35" name="Text 30"/>
          <p:cNvSpPr/>
          <p:nvPr/>
        </p:nvSpPr>
        <p:spPr>
          <a:xfrm>
            <a:off x="3395653" y="3595092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36" name="Text 31"/>
          <p:cNvSpPr/>
          <p:nvPr/>
        </p:nvSpPr>
        <p:spPr>
          <a:xfrm>
            <a:off x="3502809" y="3595092"/>
            <a:ext cx="108942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content analysis</a:t>
            </a:r>
            <a:endParaRPr lang="en-US" sz="674" dirty="0"/>
          </a:p>
        </p:txBody>
      </p:sp>
      <p:sp>
        <p:nvSpPr>
          <p:cNvPr id="37" name="Shape 32"/>
          <p:cNvSpPr/>
          <p:nvPr/>
        </p:nvSpPr>
        <p:spPr>
          <a:xfrm>
            <a:off x="6076931" y="1107281"/>
            <a:ext cx="2638416" cy="3714750"/>
          </a:xfrm>
          <a:prstGeom prst="rect">
            <a:avLst/>
          </a:prstGeom>
          <a:solidFill>
            <a:srgbClr val="FFFFFF"/>
          </a:solidFill>
          <a:ln w="18288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8122472" y="1107281"/>
            <a:ext cx="592931" cy="21967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122472" y="1107281"/>
            <a:ext cx="592931" cy="2196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584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4962" y="1348383"/>
            <a:ext cx="321469" cy="2857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38894" y="1775222"/>
            <a:ext cx="233363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ISR System</a:t>
            </a:r>
            <a:endParaRPr lang="en-US" sz="987" dirty="0"/>
          </a:p>
        </p:txBody>
      </p:sp>
      <p:sp>
        <p:nvSpPr>
          <p:cNvPr id="42" name="Text 36"/>
          <p:cNvSpPr/>
          <p:nvPr/>
        </p:nvSpPr>
        <p:spPr>
          <a:xfrm>
            <a:off x="6238894" y="1991320"/>
            <a:ext cx="23336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platform for career counselors to manage transition lifecycles.</a:t>
            </a:r>
            <a:endParaRPr lang="en-US" sz="674" dirty="0"/>
          </a:p>
        </p:txBody>
      </p:sp>
      <p:sp>
        <p:nvSpPr>
          <p:cNvPr id="43" name="Text 37"/>
          <p:cNvSpPr/>
          <p:nvPr/>
        </p:nvSpPr>
        <p:spPr>
          <a:xfrm>
            <a:off x="6238894" y="2577108"/>
            <a:ext cx="2333634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USERS</a:t>
            </a:r>
            <a:endParaRPr lang="en-US" sz="534" dirty="0"/>
          </a:p>
        </p:txBody>
      </p:sp>
      <p:sp>
        <p:nvSpPr>
          <p:cNvPr id="44" name="Text 38"/>
          <p:cNvSpPr/>
          <p:nvPr/>
        </p:nvSpPr>
        <p:spPr>
          <a:xfrm>
            <a:off x="6238894" y="2766417"/>
            <a:ext cx="23336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Advisors | Counselors</a:t>
            </a:r>
            <a:endParaRPr lang="en-US" sz="683" dirty="0"/>
          </a:p>
        </p:txBody>
      </p:sp>
      <p:sp>
        <p:nvSpPr>
          <p:cNvPr id="45" name="Text 39"/>
          <p:cNvSpPr/>
          <p:nvPr/>
        </p:nvSpPr>
        <p:spPr>
          <a:xfrm>
            <a:off x="6238894" y="3030736"/>
            <a:ext cx="2333634" cy="132159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534" dirty="0"/>
          </a:p>
        </p:txBody>
      </p:sp>
      <p:sp>
        <p:nvSpPr>
          <p:cNvPr id="46" name="Text 40"/>
          <p:cNvSpPr/>
          <p:nvPr/>
        </p:nvSpPr>
        <p:spPr>
          <a:xfrm>
            <a:off x="6238894" y="3220045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47" name="Text 41"/>
          <p:cNvSpPr/>
          <p:nvPr/>
        </p:nvSpPr>
        <p:spPr>
          <a:xfrm>
            <a:off x="6346050" y="3220045"/>
            <a:ext cx="13269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member pipeline view</a:t>
            </a:r>
            <a:endParaRPr lang="en-US" sz="674" dirty="0"/>
          </a:p>
        </p:txBody>
      </p:sp>
      <p:sp>
        <p:nvSpPr>
          <p:cNvPr id="48" name="Text 42"/>
          <p:cNvSpPr/>
          <p:nvPr/>
        </p:nvSpPr>
        <p:spPr>
          <a:xfrm>
            <a:off x="6238894" y="3389709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49" name="Text 43"/>
          <p:cNvSpPr/>
          <p:nvPr/>
        </p:nvSpPr>
        <p:spPr>
          <a:xfrm>
            <a:off x="6346050" y="3389709"/>
            <a:ext cx="10036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profile access</a:t>
            </a:r>
            <a:endParaRPr lang="en-US" sz="674" dirty="0"/>
          </a:p>
        </p:txBody>
      </p:sp>
      <p:sp>
        <p:nvSpPr>
          <p:cNvPr id="50" name="Text 44"/>
          <p:cNvSpPr/>
          <p:nvPr/>
        </p:nvSpPr>
        <p:spPr>
          <a:xfrm>
            <a:off x="6238894" y="3559373"/>
            <a:ext cx="4464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34" dirty="0"/>
          </a:p>
        </p:txBody>
      </p:sp>
      <p:sp>
        <p:nvSpPr>
          <p:cNvPr id="51" name="Text 45"/>
          <p:cNvSpPr/>
          <p:nvPr/>
        </p:nvSpPr>
        <p:spPr>
          <a:xfrm>
            <a:off x="6346050" y="3559373"/>
            <a:ext cx="12965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notes &amp; audit logging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828675"/>
            <a:ext cx="9144000" cy="28575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71450"/>
            <a:ext cx="828675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DEMONSTRATION AND RESOURCES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428625" y="53042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Mobility Governance Framework (CMGF)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214438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B4530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Demo and Downloads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428625" y="1571625"/>
            <a:ext cx="4629150" cy="45898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1571625"/>
            <a:ext cx="28575" cy="45898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1571625"/>
            <a:ext cx="4629150" cy="45898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robertmccoyprojects.com/research/cmgf</a:t>
            </a:r>
            <a:endParaRPr lang="en-US" sz="98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65462"/>
            <a:ext cx="14287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8656" y="2244923"/>
            <a:ext cx="2405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CMGF advisory environment</a:t>
            </a:r>
            <a:endParaRPr lang="en-US" sz="94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527995"/>
            <a:ext cx="85725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506" y="2507456"/>
            <a:ext cx="28074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and design methodology artifacts</a:t>
            </a:r>
            <a:endParaRPr lang="en-US" sz="942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90527"/>
            <a:ext cx="128588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4369" y="2769989"/>
            <a:ext cx="35736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documentation (CMGF-00 through CMGF-03)</a:t>
            </a:r>
            <a:endParaRPr lang="en-US" sz="942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53060"/>
            <a:ext cx="14287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8656" y="3032522"/>
            <a:ext cx="2875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materials and supporting research</a:t>
            </a:r>
            <a:endParaRPr lang="en-US" sz="942" dirty="0"/>
          </a:p>
        </p:txBody>
      </p:sp>
      <p:sp>
        <p:nvSpPr>
          <p:cNvPr id="19" name="Text 12"/>
          <p:cNvSpPr/>
          <p:nvPr/>
        </p:nvSpPr>
        <p:spPr>
          <a:xfrm>
            <a:off x="428625" y="4327327"/>
            <a:ext cx="462915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Robert McCoy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428625" y="4543425"/>
            <a:ext cx="4629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Indiana Wesleyan University
AI Governance &amp; Military Transition Research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5486400" y="857250"/>
            <a:ext cx="3657600" cy="42862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486400" y="857250"/>
            <a:ext cx="28575" cy="428625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100763" y="1552873"/>
            <a:ext cx="2428875" cy="2428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638" y="1695748"/>
            <a:ext cx="2143125" cy="2143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58880" y="4196060"/>
            <a:ext cx="111263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2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SCAN ME!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920</Words>
  <Application>Microsoft Office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 McCoy</cp:lastModifiedBy>
  <cp:revision>3</cp:revision>
  <dcterms:created xsi:type="dcterms:W3CDTF">2026-03-02T01:37:46Z</dcterms:created>
  <dcterms:modified xsi:type="dcterms:W3CDTF">2026-03-02T01:42:06Z</dcterms:modified>
</cp:coreProperties>
</file>