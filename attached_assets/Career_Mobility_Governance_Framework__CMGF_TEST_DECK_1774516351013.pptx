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8" r:id="rId3"/>
    <p:sldId id="257" r:id="rId4"/>
    <p:sldId id="265" r:id="rId5"/>
    <p:sldId id="264" r:id="rId6"/>
    <p:sldId id="266" r:id="rId7"/>
    <p:sldId id="260" r:id="rId8"/>
    <p:sldId id="261" r:id="rId9"/>
    <p:sldId id="267" r:id="rId10"/>
    <p:sldId id="258" r:id="rId11"/>
    <p:sldId id="262" r:id="rId12"/>
    <p:sldId id="263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8" autoAdjust="0"/>
    <p:restoredTop sz="94610"/>
  </p:normalViewPr>
  <p:slideViewPr>
    <p:cSldViewPr snapToGrid="0" snapToObjects="1">
      <p:cViewPr varScale="1">
        <p:scale>
          <a:sx n="148" d="100"/>
          <a:sy n="148" d="100"/>
        </p:scale>
        <p:origin x="204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1812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7A6AC-F0E3-6FBF-5B2B-E3291EFD5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5D8048-8D37-21A1-5235-F20F8DBFC1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5AE122-D078-275D-F2AC-B8C68D047E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460F52-5900-25BF-8E4A-BE7EDCEBDB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6057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F5892-344A-C52C-A6BA-982705F2F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AE1FCE-6C29-426B-0761-563ABAB694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B6776B-DE04-AB20-88A6-A595101F46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811957-D018-0B69-315C-681568FC8F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4946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jpe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jpe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629025" y="0"/>
            <a:ext cx="28575" cy="514350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42925" y="1035844"/>
            <a:ext cx="2571750" cy="25717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178719"/>
            <a:ext cx="2286000" cy="2286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69814" y="3893344"/>
            <a:ext cx="91797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SCAN ME!</a:t>
            </a:r>
            <a:endParaRPr lang="en-US" sz="1193" dirty="0"/>
          </a:p>
        </p:txBody>
      </p:sp>
      <p:sp>
        <p:nvSpPr>
          <p:cNvPr id="8" name="Shape 4"/>
          <p:cNvSpPr/>
          <p:nvPr/>
        </p:nvSpPr>
        <p:spPr>
          <a:xfrm>
            <a:off x="4086225" y="428625"/>
            <a:ext cx="4629150" cy="26253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4086225" y="676870"/>
            <a:ext cx="4629150" cy="14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6225" y="438448"/>
            <a:ext cx="107156" cy="8572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250531" y="428625"/>
            <a:ext cx="2175272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kern="0" spc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SYSTEMS ARCHITECTURE &amp; GOVERNANCE</a:t>
            </a:r>
            <a:endParaRPr lang="en-US" sz="584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8436" y="438448"/>
            <a:ext cx="75009" cy="8572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620595" y="428625"/>
            <a:ext cx="1094780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kern="0" spc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BRIEFING</a:t>
            </a:r>
            <a:endParaRPr lang="en-US" sz="584" dirty="0"/>
          </a:p>
        </p:txBody>
      </p:sp>
      <p:sp>
        <p:nvSpPr>
          <p:cNvPr id="14" name="Text 8"/>
          <p:cNvSpPr/>
          <p:nvPr/>
        </p:nvSpPr>
        <p:spPr>
          <a:xfrm>
            <a:off x="4086225" y="1158208"/>
            <a:ext cx="4629150" cy="1234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F17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CAREER MOBILITY
GOVERNANCE FRAMEWORK</a:t>
            </a:r>
            <a:endParaRPr lang="en-US" sz="2436" dirty="0"/>
          </a:p>
        </p:txBody>
      </p:sp>
      <p:sp>
        <p:nvSpPr>
          <p:cNvPr id="15" name="Text 9"/>
          <p:cNvSpPr/>
          <p:nvPr/>
        </p:nvSpPr>
        <p:spPr>
          <a:xfrm>
            <a:off x="4086225" y="2535473"/>
            <a:ext cx="462915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Governed Integration Architecture for Military Learner Mobility</a:t>
            </a:r>
            <a:endParaRPr lang="en-US" sz="1269" dirty="0"/>
          </a:p>
        </p:txBody>
      </p:sp>
      <p:sp>
        <p:nvSpPr>
          <p:cNvPr id="16" name="Text 10"/>
          <p:cNvSpPr/>
          <p:nvPr/>
        </p:nvSpPr>
        <p:spPr>
          <a:xfrm>
            <a:off x="4086225" y="3194093"/>
            <a:ext cx="4629150" cy="162520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i="1" dirty="0">
                <a:solidFill>
                  <a:srgbClr val="B4530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AI as Deterministic Constraint Infrastructure — Not Decision Automation</a:t>
            </a:r>
            <a:endParaRPr lang="en-US" sz="942" dirty="0"/>
          </a:p>
        </p:txBody>
      </p:sp>
      <p:sp>
        <p:nvSpPr>
          <p:cNvPr id="17" name="Shape 11"/>
          <p:cNvSpPr/>
          <p:nvPr/>
        </p:nvSpPr>
        <p:spPr>
          <a:xfrm>
            <a:off x="4086225" y="3837980"/>
            <a:ext cx="4629150" cy="8768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2"/>
          <p:cNvSpPr/>
          <p:nvPr/>
        </p:nvSpPr>
        <p:spPr>
          <a:xfrm>
            <a:off x="4086225" y="3837980"/>
            <a:ext cx="4629150" cy="14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3"/>
          <p:cNvSpPr/>
          <p:nvPr/>
        </p:nvSpPr>
        <p:spPr>
          <a:xfrm>
            <a:off x="4086225" y="4066580"/>
            <a:ext cx="1671638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F17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Robert McCoy</a:t>
            </a:r>
            <a:endParaRPr lang="en-US" sz="885" dirty="0"/>
          </a:p>
        </p:txBody>
      </p:sp>
      <p:sp>
        <p:nvSpPr>
          <p:cNvPr id="20" name="Text 14"/>
          <p:cNvSpPr/>
          <p:nvPr/>
        </p:nvSpPr>
        <p:spPr>
          <a:xfrm>
            <a:off x="4086225" y="4264819"/>
            <a:ext cx="16716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Indiana Wesleyan University</a:t>
            </a:r>
            <a:endParaRPr lang="en-US" sz="727" dirty="0"/>
          </a:p>
        </p:txBody>
      </p:sp>
      <p:sp>
        <p:nvSpPr>
          <p:cNvPr id="21" name="Text 15"/>
          <p:cNvSpPr/>
          <p:nvPr/>
        </p:nvSpPr>
        <p:spPr>
          <a:xfrm>
            <a:off x="4086225" y="4414838"/>
            <a:ext cx="16716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M.S. Candidate, AI &amp; Data Analytics</a:t>
            </a:r>
            <a:endParaRPr lang="en-US" sz="727" dirty="0"/>
          </a:p>
        </p:txBody>
      </p:sp>
      <p:sp>
        <p:nvSpPr>
          <p:cNvPr id="22" name="Text 16"/>
          <p:cNvSpPr/>
          <p:nvPr/>
        </p:nvSpPr>
        <p:spPr>
          <a:xfrm>
            <a:off x="4086225" y="4564856"/>
            <a:ext cx="16716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 1, 2026</a:t>
            </a:r>
            <a:endParaRPr lang="en-US" sz="727" dirty="0"/>
          </a:p>
        </p:txBody>
      </p:sp>
      <p:sp>
        <p:nvSpPr>
          <p:cNvPr id="23" name="Text 17"/>
          <p:cNvSpPr/>
          <p:nvPr/>
        </p:nvSpPr>
        <p:spPr>
          <a:xfrm>
            <a:off x="6816923" y="4346972"/>
            <a:ext cx="1898452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CCME 2026 SYMPOSIUM</a:t>
            </a:r>
            <a:endParaRPr lang="en-US" sz="683" dirty="0"/>
          </a:p>
        </p:txBody>
      </p:sp>
      <p:sp>
        <p:nvSpPr>
          <p:cNvPr id="24" name="Text 18"/>
          <p:cNvSpPr/>
          <p:nvPr/>
        </p:nvSpPr>
        <p:spPr>
          <a:xfrm>
            <a:off x="6816923" y="4504134"/>
            <a:ext cx="1898452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800"/>
              </a:lnSpc>
              <a:buNone/>
            </a:pPr>
            <a:r>
              <a:rPr lang="en-US" sz="621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Future Is Now: Educate, Engage, Empower</a:t>
            </a:r>
            <a:endParaRPr lang="en-US" sz="621" dirty="0"/>
          </a:p>
        </p:txBody>
      </p:sp>
      <p:sp>
        <p:nvSpPr>
          <p:cNvPr id="25" name="Text 19"/>
          <p:cNvSpPr/>
          <p:nvPr/>
        </p:nvSpPr>
        <p:spPr>
          <a:xfrm>
            <a:off x="6816923" y="4609505"/>
            <a:ext cx="1898452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800"/>
              </a:lnSpc>
              <a:buNone/>
            </a:pPr>
            <a:r>
              <a:rPr lang="en-US" sz="621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1 — Military Learner Mobility</a:t>
            </a:r>
            <a:endParaRPr lang="en-US" sz="62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65F779-05E0-C519-CC10-6117E23AABB1}"/>
              </a:ext>
            </a:extLst>
          </p:cNvPr>
          <p:cNvSpPr txBox="1"/>
          <p:nvPr/>
        </p:nvSpPr>
        <p:spPr>
          <a:xfrm>
            <a:off x="2478024" y="2130552"/>
            <a:ext cx="47588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Scenario 68W to Civilian </a:t>
            </a:r>
          </a:p>
          <a:p>
            <a:pPr algn="ctr"/>
            <a:r>
              <a:rPr lang="en-US" dirty="0"/>
              <a:t>https://robertmccoyprojects.com/research/cmgf</a:t>
            </a:r>
          </a:p>
        </p:txBody>
      </p:sp>
    </p:spTree>
    <p:extLst>
      <p:ext uri="{BB962C8B-B14F-4D97-AF65-F5344CB8AC3E}">
        <p14:creationId xmlns:p14="http://schemas.microsoft.com/office/powerpoint/2010/main" val="2746730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1221581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Shape 1"/>
          <p:cNvSpPr/>
          <p:nvPr/>
        </p:nvSpPr>
        <p:spPr>
          <a:xfrm>
            <a:off x="0" y="1193006"/>
            <a:ext cx="9144000" cy="28575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28625" y="285750"/>
            <a:ext cx="2898229" cy="3409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  <a:latin typeface="Merriweather" pitchFamily="34" charset="0"/>
              </a:rPr>
              <a:t>Presentation Footing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428625" y="734020"/>
            <a:ext cx="1941237" cy="170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will AI be used in the Future?</a:t>
            </a:r>
            <a:endParaRPr lang="en-US" sz="1050" dirty="0"/>
          </a:p>
        </p:txBody>
      </p:sp>
      <p:sp>
        <p:nvSpPr>
          <p:cNvPr id="37" name="Shape 29"/>
          <p:cNvSpPr/>
          <p:nvPr/>
        </p:nvSpPr>
        <p:spPr>
          <a:xfrm>
            <a:off x="0" y="4713089"/>
            <a:ext cx="9144000" cy="430411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0"/>
          <p:cNvSpPr/>
          <p:nvPr/>
        </p:nvSpPr>
        <p:spPr>
          <a:xfrm>
            <a:off x="0" y="4713089"/>
            <a:ext cx="9144000" cy="7144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2"/>
          <p:cNvSpPr/>
          <p:nvPr/>
        </p:nvSpPr>
        <p:spPr>
          <a:xfrm>
            <a:off x="8567142" y="4863108"/>
            <a:ext cx="14823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784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AACB2B1-4E4C-0F90-64C5-2127719C4840}"/>
              </a:ext>
            </a:extLst>
          </p:cNvPr>
          <p:cNvSpPr txBox="1"/>
          <p:nvPr/>
        </p:nvSpPr>
        <p:spPr>
          <a:xfrm>
            <a:off x="428625" y="1694587"/>
            <a:ext cx="813851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Today I’m not presenting a product or a program proposal.</a:t>
            </a:r>
          </a:p>
          <a:p>
            <a:pPr>
              <a:buNone/>
            </a:pPr>
            <a:br>
              <a:rPr lang="en-US" dirty="0"/>
            </a:br>
            <a:r>
              <a:rPr lang="en-US" dirty="0"/>
              <a:t>I’m presenting a design question.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If artificial intelligence is going to enter the military education and transition ecosystem, and it will, how do we do that in a way that preserves human authority, respects policy boundaries, and increases transparency rather than obscuring it?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The Career Mobility Governance Framework is one possible answer to that question.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F8928-C850-C6F3-7F73-030B0EDD8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C71155CE-9CDF-E963-B232-1FF84B958804}"/>
              </a:ext>
            </a:extLst>
          </p:cNvPr>
          <p:cNvSpPr/>
          <p:nvPr/>
        </p:nvSpPr>
        <p:spPr>
          <a:xfrm>
            <a:off x="0" y="0"/>
            <a:ext cx="9144000" cy="1221581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50517574-4541-12AA-036F-E58EB8694265}"/>
              </a:ext>
            </a:extLst>
          </p:cNvPr>
          <p:cNvSpPr/>
          <p:nvPr/>
        </p:nvSpPr>
        <p:spPr>
          <a:xfrm>
            <a:off x="0" y="1193006"/>
            <a:ext cx="9144000" cy="28575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80AB7859-F633-EDEE-A26C-7BE0D1AC9F0B}"/>
              </a:ext>
            </a:extLst>
          </p:cNvPr>
          <p:cNvSpPr/>
          <p:nvPr/>
        </p:nvSpPr>
        <p:spPr>
          <a:xfrm>
            <a:off x="428625" y="285750"/>
            <a:ext cx="2898229" cy="3409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  <a:latin typeface="Merriweather" pitchFamily="34" charset="0"/>
              </a:rPr>
              <a:t>Presentation Footing</a:t>
            </a:r>
            <a:endParaRPr lang="en-US" sz="2121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38C80F4-F476-26B7-5218-B205E397221D}"/>
              </a:ext>
            </a:extLst>
          </p:cNvPr>
          <p:cNvSpPr/>
          <p:nvPr/>
        </p:nvSpPr>
        <p:spPr>
          <a:xfrm>
            <a:off x="428625" y="734020"/>
            <a:ext cx="1941237" cy="170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will AI be used in the Future?</a:t>
            </a:r>
            <a:endParaRPr lang="en-US" sz="1050" dirty="0"/>
          </a:p>
        </p:txBody>
      </p:sp>
      <p:sp>
        <p:nvSpPr>
          <p:cNvPr id="37" name="Shape 29">
            <a:extLst>
              <a:ext uri="{FF2B5EF4-FFF2-40B4-BE49-F238E27FC236}">
                <a16:creationId xmlns:a16="http://schemas.microsoft.com/office/drawing/2014/main" id="{1D048728-519C-6DC1-3047-CBBC41268A49}"/>
              </a:ext>
            </a:extLst>
          </p:cNvPr>
          <p:cNvSpPr/>
          <p:nvPr/>
        </p:nvSpPr>
        <p:spPr>
          <a:xfrm>
            <a:off x="0" y="4713089"/>
            <a:ext cx="9144000" cy="430411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0">
            <a:extLst>
              <a:ext uri="{FF2B5EF4-FFF2-40B4-BE49-F238E27FC236}">
                <a16:creationId xmlns:a16="http://schemas.microsoft.com/office/drawing/2014/main" id="{3659E281-4B9B-B7AD-AD0F-0A160CE86213}"/>
              </a:ext>
            </a:extLst>
          </p:cNvPr>
          <p:cNvSpPr/>
          <p:nvPr/>
        </p:nvSpPr>
        <p:spPr>
          <a:xfrm>
            <a:off x="0" y="4713089"/>
            <a:ext cx="9144000" cy="7144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2">
            <a:extLst>
              <a:ext uri="{FF2B5EF4-FFF2-40B4-BE49-F238E27FC236}">
                <a16:creationId xmlns:a16="http://schemas.microsoft.com/office/drawing/2014/main" id="{7012D6DA-29B5-E4BA-490D-EBE50C38B1E9}"/>
              </a:ext>
            </a:extLst>
          </p:cNvPr>
          <p:cNvSpPr/>
          <p:nvPr/>
        </p:nvSpPr>
        <p:spPr>
          <a:xfrm>
            <a:off x="8567142" y="4863108"/>
            <a:ext cx="14823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784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8BD5529-5C4A-5F23-9334-EEEABE20C2DA}"/>
              </a:ext>
            </a:extLst>
          </p:cNvPr>
          <p:cNvSpPr txBox="1"/>
          <p:nvPr/>
        </p:nvSpPr>
        <p:spPr>
          <a:xfrm>
            <a:off x="428625" y="1694587"/>
            <a:ext cx="813851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Think of CMGF as an advisor’s research assistant. It pulls together policy rules, credential pathways, and labor data, checks them against a service member’s goals, and shows where the plan works—or where the constraints 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And then it produces a transparent report so the advisor can focus on guiding the decision instead of hunting through policies.</a:t>
            </a:r>
          </a:p>
        </p:txBody>
      </p:sp>
    </p:spTree>
    <p:extLst>
      <p:ext uri="{BB962C8B-B14F-4D97-AF65-F5344CB8AC3E}">
        <p14:creationId xmlns:p14="http://schemas.microsoft.com/office/powerpoint/2010/main" val="3222677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99111-566E-3A6B-7634-FD6869FE6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6BF0E131-45EA-E4B3-82E6-7D245996CD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0735DFEB-9579-4AA3-681B-04CD9A5706F3}"/>
              </a:ext>
            </a:extLst>
          </p:cNvPr>
          <p:cNvSpPr/>
          <p:nvPr/>
        </p:nvSpPr>
        <p:spPr>
          <a:xfrm>
            <a:off x="0" y="0"/>
            <a:ext cx="9144000" cy="1221581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166FB315-3AD2-FD34-19CB-D89D41BBB163}"/>
              </a:ext>
            </a:extLst>
          </p:cNvPr>
          <p:cNvSpPr/>
          <p:nvPr/>
        </p:nvSpPr>
        <p:spPr>
          <a:xfrm>
            <a:off x="0" y="1193006"/>
            <a:ext cx="9144000" cy="28575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01DA5C86-D426-0EB1-3251-B8FC0326B311}"/>
              </a:ext>
            </a:extLst>
          </p:cNvPr>
          <p:cNvSpPr/>
          <p:nvPr/>
        </p:nvSpPr>
        <p:spPr>
          <a:xfrm>
            <a:off x="428625" y="285750"/>
            <a:ext cx="8286750" cy="3768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Evidence Behind the Five Pillars</a:t>
            </a:r>
            <a:endParaRPr lang="en-US" sz="2121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ADE667C-713A-C391-3FD9-D2F011F36BD9}"/>
              </a:ext>
            </a:extLst>
          </p:cNvPr>
          <p:cNvSpPr/>
          <p:nvPr/>
        </p:nvSpPr>
        <p:spPr>
          <a:xfrm>
            <a:off x="428625" y="734020"/>
            <a:ext cx="828675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Documented fragmentation across systems requires governed integration</a:t>
            </a:r>
            <a:endParaRPr lang="en-US" sz="105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F7B7FFCC-704F-856E-0AF4-12183249B760}"/>
              </a:ext>
            </a:extLst>
          </p:cNvPr>
          <p:cNvSpPr/>
          <p:nvPr/>
        </p:nvSpPr>
        <p:spPr>
          <a:xfrm>
            <a:off x="428625" y="1478756"/>
            <a:ext cx="1543050" cy="294858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0D92B25F-7D6C-0A58-9B70-26DD3B9E0AA9}"/>
              </a:ext>
            </a:extLst>
          </p:cNvPr>
          <p:cNvSpPr/>
          <p:nvPr/>
        </p:nvSpPr>
        <p:spPr>
          <a:xfrm>
            <a:off x="428625" y="1478756"/>
            <a:ext cx="1543050" cy="42863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2D1F558B-6334-79B0-527A-F8705F1DB4DF}"/>
              </a:ext>
            </a:extLst>
          </p:cNvPr>
          <p:cNvSpPr/>
          <p:nvPr/>
        </p:nvSpPr>
        <p:spPr>
          <a:xfrm>
            <a:off x="950119" y="1693069"/>
            <a:ext cx="500063" cy="500063"/>
          </a:xfrm>
          <a:prstGeom prst="ellipse">
            <a:avLst/>
          </a:prstGeom>
          <a:solidFill>
            <a:srgbClr val="FFF7ED"/>
          </a:solidFill>
          <a:ln w="18288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97B37ABE-DC78-C24A-6F56-015A36B336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850" y="1828800"/>
            <a:ext cx="228600" cy="228600"/>
          </a:xfrm>
          <a:prstGeom prst="rect">
            <a:avLst/>
          </a:prstGeom>
        </p:spPr>
      </p:pic>
      <p:sp>
        <p:nvSpPr>
          <p:cNvPr id="11" name="Text 7">
            <a:extLst>
              <a:ext uri="{FF2B5EF4-FFF2-40B4-BE49-F238E27FC236}">
                <a16:creationId xmlns:a16="http://schemas.microsoft.com/office/drawing/2014/main" id="{682EF366-4120-136E-C265-589052B5281C}"/>
              </a:ext>
            </a:extLst>
          </p:cNvPr>
          <p:cNvSpPr/>
          <p:nvPr/>
        </p:nvSpPr>
        <p:spPr>
          <a:xfrm>
            <a:off x="571500" y="2371725"/>
            <a:ext cx="1257300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0F17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Military Learner Transitions</a:t>
            </a:r>
            <a:endParaRPr lang="en-US" sz="885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01F73FDC-AA43-1CD0-2593-E54A7554D7D5}"/>
              </a:ext>
            </a:extLst>
          </p:cNvPr>
          <p:cNvSpPr/>
          <p:nvPr/>
        </p:nvSpPr>
        <p:spPr>
          <a:xfrm>
            <a:off x="571500" y="2871788"/>
            <a:ext cx="12573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Fragmentation documented across DoD, VA, and Labor transition systems creates navigation friction.</a:t>
            </a:r>
            <a:endParaRPr lang="en-US" sz="780" dirty="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E8BB1ECD-8804-DFFD-C3EB-C267134314C7}"/>
              </a:ext>
            </a:extLst>
          </p:cNvPr>
          <p:cNvSpPr/>
          <p:nvPr/>
        </p:nvSpPr>
        <p:spPr>
          <a:xfrm>
            <a:off x="2114550" y="1478756"/>
            <a:ext cx="1543050" cy="294858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FD7D6143-A25F-A69A-9080-07D3733D2CA0}"/>
              </a:ext>
            </a:extLst>
          </p:cNvPr>
          <p:cNvSpPr/>
          <p:nvPr/>
        </p:nvSpPr>
        <p:spPr>
          <a:xfrm>
            <a:off x="2114550" y="1478756"/>
            <a:ext cx="1543050" cy="42863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C7DE212C-7DF5-3ACF-CCCC-01E6AE67D949}"/>
              </a:ext>
            </a:extLst>
          </p:cNvPr>
          <p:cNvSpPr/>
          <p:nvPr/>
        </p:nvSpPr>
        <p:spPr>
          <a:xfrm>
            <a:off x="2636044" y="1693069"/>
            <a:ext cx="500063" cy="500063"/>
          </a:xfrm>
          <a:prstGeom prst="ellipse">
            <a:avLst/>
          </a:prstGeom>
          <a:solidFill>
            <a:srgbClr val="FFF7ED"/>
          </a:solidFill>
          <a:ln w="18288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>
            <a:extLst>
              <a:ext uri="{FF2B5EF4-FFF2-40B4-BE49-F238E27FC236}">
                <a16:creationId xmlns:a16="http://schemas.microsoft.com/office/drawing/2014/main" id="{67F1F839-D9D1-C25D-1C9F-4C327B131B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1775" y="1828800"/>
            <a:ext cx="228600" cy="228600"/>
          </a:xfrm>
          <a:prstGeom prst="rect">
            <a:avLst/>
          </a:prstGeom>
        </p:spPr>
      </p:pic>
      <p:sp>
        <p:nvSpPr>
          <p:cNvPr id="17" name="Text 12">
            <a:extLst>
              <a:ext uri="{FF2B5EF4-FFF2-40B4-BE49-F238E27FC236}">
                <a16:creationId xmlns:a16="http://schemas.microsoft.com/office/drawing/2014/main" id="{A8017DEC-1ADE-7F46-28D1-EAD3964C4C0F}"/>
              </a:ext>
            </a:extLst>
          </p:cNvPr>
          <p:cNvSpPr/>
          <p:nvPr/>
        </p:nvSpPr>
        <p:spPr>
          <a:xfrm>
            <a:off x="2257425" y="2371725"/>
            <a:ext cx="1257300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0F17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Career Mobility &amp; Alignment</a:t>
            </a:r>
            <a:endParaRPr lang="en-US" sz="885" dirty="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49CF3789-8600-36A6-A208-4E327EF6C725}"/>
              </a:ext>
            </a:extLst>
          </p:cNvPr>
          <p:cNvSpPr/>
          <p:nvPr/>
        </p:nvSpPr>
        <p:spPr>
          <a:xfrm>
            <a:off x="2257425" y="2871788"/>
            <a:ext cx="1257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Empirical variability in wage outcomes and credential signaling across different regions.</a:t>
            </a:r>
            <a:endParaRPr lang="en-US" sz="780" dirty="0"/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48F3B702-F7D6-943F-359B-FE5D522067C8}"/>
              </a:ext>
            </a:extLst>
          </p:cNvPr>
          <p:cNvSpPr/>
          <p:nvPr/>
        </p:nvSpPr>
        <p:spPr>
          <a:xfrm>
            <a:off x="3800475" y="1478756"/>
            <a:ext cx="1543050" cy="294858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A7226E92-E004-E6A4-6F96-CF14556A9CE4}"/>
              </a:ext>
            </a:extLst>
          </p:cNvPr>
          <p:cNvSpPr/>
          <p:nvPr/>
        </p:nvSpPr>
        <p:spPr>
          <a:xfrm>
            <a:off x="3800475" y="1478756"/>
            <a:ext cx="1543050" cy="42863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EC331712-B192-3DF7-E4F2-FF9E8240C21F}"/>
              </a:ext>
            </a:extLst>
          </p:cNvPr>
          <p:cNvSpPr/>
          <p:nvPr/>
        </p:nvSpPr>
        <p:spPr>
          <a:xfrm>
            <a:off x="4321969" y="1693069"/>
            <a:ext cx="500063" cy="500063"/>
          </a:xfrm>
          <a:prstGeom prst="ellipse">
            <a:avLst/>
          </a:prstGeom>
          <a:solidFill>
            <a:srgbClr val="FFF7ED"/>
          </a:solidFill>
          <a:ln w="18288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>
            <a:extLst>
              <a:ext uri="{FF2B5EF4-FFF2-40B4-BE49-F238E27FC236}">
                <a16:creationId xmlns:a16="http://schemas.microsoft.com/office/drawing/2014/main" id="{42EFCBE8-CD44-E855-715F-6407FDAAFE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7700" y="1828800"/>
            <a:ext cx="228600" cy="228600"/>
          </a:xfrm>
          <a:prstGeom prst="rect">
            <a:avLst/>
          </a:prstGeom>
        </p:spPr>
      </p:pic>
      <p:sp>
        <p:nvSpPr>
          <p:cNvPr id="23" name="Text 17">
            <a:extLst>
              <a:ext uri="{FF2B5EF4-FFF2-40B4-BE49-F238E27FC236}">
                <a16:creationId xmlns:a16="http://schemas.microsoft.com/office/drawing/2014/main" id="{2924D775-399F-560C-4FB0-F80F21A5ECB2}"/>
              </a:ext>
            </a:extLst>
          </p:cNvPr>
          <p:cNvSpPr/>
          <p:nvPr/>
        </p:nvSpPr>
        <p:spPr>
          <a:xfrm>
            <a:off x="3943350" y="2371725"/>
            <a:ext cx="1257300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0F17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Credential Translation</a:t>
            </a:r>
            <a:endParaRPr lang="en-US" sz="885" dirty="0"/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2AB828BB-D535-C910-B3B0-2A1200DDF580}"/>
              </a:ext>
            </a:extLst>
          </p:cNvPr>
          <p:cNvSpPr/>
          <p:nvPr/>
        </p:nvSpPr>
        <p:spPr>
          <a:xfrm>
            <a:off x="3943350" y="2871788"/>
            <a:ext cx="12573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Decentralized authority creates inconsistent employer recognition patterns for military skills.</a:t>
            </a:r>
            <a:endParaRPr lang="en-US" sz="780" dirty="0"/>
          </a:p>
        </p:txBody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9BFB8D56-FA3C-F98F-F36B-7CD7FAED8FAD}"/>
              </a:ext>
            </a:extLst>
          </p:cNvPr>
          <p:cNvSpPr/>
          <p:nvPr/>
        </p:nvSpPr>
        <p:spPr>
          <a:xfrm>
            <a:off x="5486400" y="1478756"/>
            <a:ext cx="1543050" cy="294858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0">
            <a:extLst>
              <a:ext uri="{FF2B5EF4-FFF2-40B4-BE49-F238E27FC236}">
                <a16:creationId xmlns:a16="http://schemas.microsoft.com/office/drawing/2014/main" id="{2500BF08-73C0-1DC8-2924-FC4294571294}"/>
              </a:ext>
            </a:extLst>
          </p:cNvPr>
          <p:cNvSpPr/>
          <p:nvPr/>
        </p:nvSpPr>
        <p:spPr>
          <a:xfrm>
            <a:off x="5486400" y="1478756"/>
            <a:ext cx="1543050" cy="42863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1">
            <a:extLst>
              <a:ext uri="{FF2B5EF4-FFF2-40B4-BE49-F238E27FC236}">
                <a16:creationId xmlns:a16="http://schemas.microsoft.com/office/drawing/2014/main" id="{55BAA152-D998-DE06-60E8-9F47F0A46BCC}"/>
              </a:ext>
            </a:extLst>
          </p:cNvPr>
          <p:cNvSpPr/>
          <p:nvPr/>
        </p:nvSpPr>
        <p:spPr>
          <a:xfrm>
            <a:off x="6007894" y="1693069"/>
            <a:ext cx="500063" cy="500063"/>
          </a:xfrm>
          <a:prstGeom prst="ellipse">
            <a:avLst/>
          </a:prstGeom>
          <a:solidFill>
            <a:srgbClr val="FFF7ED"/>
          </a:solidFill>
          <a:ln w="18288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4" descr="preencoded.png">
            <a:extLst>
              <a:ext uri="{FF2B5EF4-FFF2-40B4-BE49-F238E27FC236}">
                <a16:creationId xmlns:a16="http://schemas.microsoft.com/office/drawing/2014/main" id="{6D3094B4-A840-8848-2EA7-943E13D272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3625" y="1828800"/>
            <a:ext cx="228600" cy="228600"/>
          </a:xfrm>
          <a:prstGeom prst="rect">
            <a:avLst/>
          </a:prstGeom>
        </p:spPr>
      </p:pic>
      <p:sp>
        <p:nvSpPr>
          <p:cNvPr id="29" name="Text 22">
            <a:extLst>
              <a:ext uri="{FF2B5EF4-FFF2-40B4-BE49-F238E27FC236}">
                <a16:creationId xmlns:a16="http://schemas.microsoft.com/office/drawing/2014/main" id="{9D754DBF-690C-E40C-144F-B72AA814FE83}"/>
              </a:ext>
            </a:extLst>
          </p:cNvPr>
          <p:cNvSpPr/>
          <p:nvPr/>
        </p:nvSpPr>
        <p:spPr>
          <a:xfrm>
            <a:off x="5629275" y="2371725"/>
            <a:ext cx="1257300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0F17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Advising Tools &amp; Support</a:t>
            </a:r>
            <a:endParaRPr lang="en-US" sz="885" dirty="0"/>
          </a:p>
        </p:txBody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6BC33ADA-6127-B5EC-6C50-4F88615B2D19}"/>
              </a:ext>
            </a:extLst>
          </p:cNvPr>
          <p:cNvSpPr/>
          <p:nvPr/>
        </p:nvSpPr>
        <p:spPr>
          <a:xfrm>
            <a:off x="5629275" y="2871788"/>
            <a:ext cx="1257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 cross-system integration and outcome visibility for advisors supporting transitions.</a:t>
            </a:r>
            <a:endParaRPr lang="en-US" sz="780" dirty="0"/>
          </a:p>
        </p:txBody>
      </p:sp>
      <p:sp>
        <p:nvSpPr>
          <p:cNvPr id="31" name="Shape 24">
            <a:extLst>
              <a:ext uri="{FF2B5EF4-FFF2-40B4-BE49-F238E27FC236}">
                <a16:creationId xmlns:a16="http://schemas.microsoft.com/office/drawing/2014/main" id="{3B21FCD3-1DF9-0B1F-01A5-1FAE71464A43}"/>
              </a:ext>
            </a:extLst>
          </p:cNvPr>
          <p:cNvSpPr/>
          <p:nvPr/>
        </p:nvSpPr>
        <p:spPr>
          <a:xfrm>
            <a:off x="7172325" y="1478756"/>
            <a:ext cx="1543050" cy="294858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5">
            <a:extLst>
              <a:ext uri="{FF2B5EF4-FFF2-40B4-BE49-F238E27FC236}">
                <a16:creationId xmlns:a16="http://schemas.microsoft.com/office/drawing/2014/main" id="{23E344B1-C524-DB51-0129-AE274211826B}"/>
              </a:ext>
            </a:extLst>
          </p:cNvPr>
          <p:cNvSpPr/>
          <p:nvPr/>
        </p:nvSpPr>
        <p:spPr>
          <a:xfrm>
            <a:off x="7172325" y="1478756"/>
            <a:ext cx="1543050" cy="42863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26">
            <a:extLst>
              <a:ext uri="{FF2B5EF4-FFF2-40B4-BE49-F238E27FC236}">
                <a16:creationId xmlns:a16="http://schemas.microsoft.com/office/drawing/2014/main" id="{B7C1CD28-9498-119D-1055-B5A1E4BBC437}"/>
              </a:ext>
            </a:extLst>
          </p:cNvPr>
          <p:cNvSpPr/>
          <p:nvPr/>
        </p:nvSpPr>
        <p:spPr>
          <a:xfrm>
            <a:off x="7693819" y="1693069"/>
            <a:ext cx="500063" cy="500063"/>
          </a:xfrm>
          <a:prstGeom prst="ellipse">
            <a:avLst/>
          </a:prstGeom>
          <a:solidFill>
            <a:srgbClr val="FFF7ED"/>
          </a:solidFill>
          <a:ln w="18288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5" descr="preencoded.png">
            <a:extLst>
              <a:ext uri="{FF2B5EF4-FFF2-40B4-BE49-F238E27FC236}">
                <a16:creationId xmlns:a16="http://schemas.microsoft.com/office/drawing/2014/main" id="{76EB0E31-8561-91BD-372B-CE6ECBB096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29550" y="1828800"/>
            <a:ext cx="228600" cy="228600"/>
          </a:xfrm>
          <a:prstGeom prst="rect">
            <a:avLst/>
          </a:prstGeom>
        </p:spPr>
      </p:pic>
      <p:sp>
        <p:nvSpPr>
          <p:cNvPr id="35" name="Text 27">
            <a:extLst>
              <a:ext uri="{FF2B5EF4-FFF2-40B4-BE49-F238E27FC236}">
                <a16:creationId xmlns:a16="http://schemas.microsoft.com/office/drawing/2014/main" id="{6D6E702A-1C9F-D518-0A69-3CB33B83E6D9}"/>
              </a:ext>
            </a:extLst>
          </p:cNvPr>
          <p:cNvSpPr/>
          <p:nvPr/>
        </p:nvSpPr>
        <p:spPr>
          <a:xfrm>
            <a:off x="7320558" y="2371725"/>
            <a:ext cx="1246584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0F17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Voice of the Veteran</a:t>
            </a:r>
            <a:endParaRPr lang="en-US" sz="885" dirty="0"/>
          </a:p>
        </p:txBody>
      </p:sp>
      <p:sp>
        <p:nvSpPr>
          <p:cNvPr id="36" name="Text 28">
            <a:extLst>
              <a:ext uri="{FF2B5EF4-FFF2-40B4-BE49-F238E27FC236}">
                <a16:creationId xmlns:a16="http://schemas.microsoft.com/office/drawing/2014/main" id="{1CC526FA-E895-B79B-6B2F-0F7720D83776}"/>
              </a:ext>
            </a:extLst>
          </p:cNvPr>
          <p:cNvSpPr/>
          <p:nvPr/>
        </p:nvSpPr>
        <p:spPr>
          <a:xfrm>
            <a:off x="7315200" y="2871788"/>
            <a:ext cx="1257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Documented barriers in translation, navigation, and equitable access to opportunities.</a:t>
            </a:r>
            <a:endParaRPr lang="en-US" sz="780" dirty="0"/>
          </a:p>
        </p:txBody>
      </p:sp>
      <p:sp>
        <p:nvSpPr>
          <p:cNvPr id="37" name="Shape 29">
            <a:extLst>
              <a:ext uri="{FF2B5EF4-FFF2-40B4-BE49-F238E27FC236}">
                <a16:creationId xmlns:a16="http://schemas.microsoft.com/office/drawing/2014/main" id="{F04A5821-F9CA-F91B-7E48-A56F49480542}"/>
              </a:ext>
            </a:extLst>
          </p:cNvPr>
          <p:cNvSpPr/>
          <p:nvPr/>
        </p:nvSpPr>
        <p:spPr>
          <a:xfrm>
            <a:off x="0" y="4713089"/>
            <a:ext cx="9144000" cy="430411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0">
            <a:extLst>
              <a:ext uri="{FF2B5EF4-FFF2-40B4-BE49-F238E27FC236}">
                <a16:creationId xmlns:a16="http://schemas.microsoft.com/office/drawing/2014/main" id="{3B670DEA-6E6F-F707-B210-822C54DCE816}"/>
              </a:ext>
            </a:extLst>
          </p:cNvPr>
          <p:cNvSpPr/>
          <p:nvPr/>
        </p:nvSpPr>
        <p:spPr>
          <a:xfrm>
            <a:off x="0" y="4713089"/>
            <a:ext cx="9144000" cy="7144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1">
            <a:extLst>
              <a:ext uri="{FF2B5EF4-FFF2-40B4-BE49-F238E27FC236}">
                <a16:creationId xmlns:a16="http://schemas.microsoft.com/office/drawing/2014/main" id="{C97E1C3E-A9FF-6795-D5B0-F24793BE9758}"/>
              </a:ext>
            </a:extLst>
          </p:cNvPr>
          <p:cNvSpPr/>
          <p:nvPr/>
        </p:nvSpPr>
        <p:spPr>
          <a:xfrm>
            <a:off x="428625" y="4869359"/>
            <a:ext cx="3525441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i="1" dirty="0">
                <a:solidFill>
                  <a:srgbClr val="64748B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Grounded in national research, federal reporting, and AI governance guidance.</a:t>
            </a:r>
            <a:endParaRPr lang="en-US" sz="727" dirty="0"/>
          </a:p>
        </p:txBody>
      </p:sp>
      <p:sp>
        <p:nvSpPr>
          <p:cNvPr id="40" name="Text 32">
            <a:extLst>
              <a:ext uri="{FF2B5EF4-FFF2-40B4-BE49-F238E27FC236}">
                <a16:creationId xmlns:a16="http://schemas.microsoft.com/office/drawing/2014/main" id="{6F849A45-F015-76FC-4A55-2AE88E2CDBF4}"/>
              </a:ext>
            </a:extLst>
          </p:cNvPr>
          <p:cNvSpPr/>
          <p:nvPr/>
        </p:nvSpPr>
        <p:spPr>
          <a:xfrm>
            <a:off x="8567142" y="4863108"/>
            <a:ext cx="14823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784" dirty="0"/>
          </a:p>
        </p:txBody>
      </p:sp>
    </p:spTree>
    <p:extLst>
      <p:ext uri="{BB962C8B-B14F-4D97-AF65-F5344CB8AC3E}">
        <p14:creationId xmlns:p14="http://schemas.microsoft.com/office/powerpoint/2010/main" val="2053942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2FA937-6642-64A5-84E0-9FCD48070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394"/>
            <a:ext cx="9144000" cy="5066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575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828675"/>
            <a:ext cx="9144000" cy="28575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28625" y="214313"/>
            <a:ext cx="8286750" cy="3232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Foundation: Authority Decomposition Model</a:t>
            </a:r>
            <a:endParaRPr lang="en-US" sz="1808" dirty="0"/>
          </a:p>
        </p:txBody>
      </p:sp>
      <p:sp>
        <p:nvSpPr>
          <p:cNvPr id="6" name="Text 3"/>
          <p:cNvSpPr/>
          <p:nvPr/>
        </p:nvSpPr>
        <p:spPr>
          <a:xfrm>
            <a:off x="428625" y="573286"/>
            <a:ext cx="82867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Governed Constraint Hierarchy for Military Education and Career Mobility Systems</a:t>
            </a:r>
            <a:endParaRPr lang="en-US" sz="942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2AB32FFE-DE5B-930A-0005-ACBD0EF599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717" y="1019770"/>
            <a:ext cx="6817684" cy="38844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828675"/>
            <a:ext cx="9144000" cy="28575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28625" y="171450"/>
            <a:ext cx="8286750" cy="3232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Governance Alignment: Three Active Federal Pillars</a:t>
            </a:r>
            <a:endParaRPr lang="en-US" sz="1808" dirty="0"/>
          </a:p>
        </p:txBody>
      </p:sp>
      <p:sp>
        <p:nvSpPr>
          <p:cNvPr id="6" name="Text 3"/>
          <p:cNvSpPr/>
          <p:nvPr/>
        </p:nvSpPr>
        <p:spPr>
          <a:xfrm>
            <a:off x="428625" y="530423"/>
            <a:ext cx="82867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Ensuring compliance with current national AI policy and risk management standards</a:t>
            </a:r>
            <a:endParaRPr lang="en-US" sz="942" dirty="0"/>
          </a:p>
        </p:txBody>
      </p:sp>
      <p:sp>
        <p:nvSpPr>
          <p:cNvPr id="7" name="Shape 4"/>
          <p:cNvSpPr/>
          <p:nvPr/>
        </p:nvSpPr>
        <p:spPr>
          <a:xfrm>
            <a:off x="428625" y="1143000"/>
            <a:ext cx="2619384" cy="314899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28625" y="1143000"/>
            <a:ext cx="2619384" cy="5715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28625" y="1143000"/>
            <a:ext cx="2619384" cy="109260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28625" y="2228459"/>
            <a:ext cx="2619384" cy="7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71500" y="1321594"/>
            <a:ext cx="233363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F17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EO 14179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571500" y="1607344"/>
            <a:ext cx="2333634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REMOVING BARRIERS TO AMERICAN LEADERSHIP IN AI</a:t>
            </a:r>
            <a:endParaRPr lang="en-US" sz="683" dirty="0"/>
          </a:p>
        </p:txBody>
      </p:sp>
      <p:sp>
        <p:nvSpPr>
          <p:cNvPr id="13" name="Text 10"/>
          <p:cNvSpPr/>
          <p:nvPr/>
        </p:nvSpPr>
        <p:spPr>
          <a:xfrm>
            <a:off x="571500" y="1944495"/>
            <a:ext cx="2333634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i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January 20, 2025</a:t>
            </a:r>
            <a:endParaRPr lang="en-US" sz="621" dirty="0"/>
          </a:p>
        </p:txBody>
      </p:sp>
      <p:sp>
        <p:nvSpPr>
          <p:cNvPr id="14" name="Shape 11"/>
          <p:cNvSpPr/>
          <p:nvPr/>
        </p:nvSpPr>
        <p:spPr>
          <a:xfrm>
            <a:off x="428625" y="2228459"/>
            <a:ext cx="2619384" cy="2063539"/>
          </a:xfrm>
          <a:prstGeom prst="rect">
            <a:avLst/>
          </a:prstGeom>
          <a:solidFill>
            <a:srgbClr val="FFF7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380264"/>
            <a:ext cx="105370" cy="7858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9733" y="2371334"/>
            <a:ext cx="834033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34" b="1" kern="0" spc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CMGF ALIGNMENT</a:t>
            </a:r>
            <a:endParaRPr lang="en-US" sz="534" dirty="0"/>
          </a:p>
        </p:txBody>
      </p:sp>
      <p:sp>
        <p:nvSpPr>
          <p:cNvPr id="17" name="Text 13"/>
          <p:cNvSpPr/>
          <p:nvPr/>
        </p:nvSpPr>
        <p:spPr>
          <a:xfrm>
            <a:off x="571500" y="2539212"/>
            <a:ext cx="2333634" cy="80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334155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Deterministic constraint architecture with preserved human decision authority, aligned to the Administration's mandate to accelerate responsible AI deployment while maintaining safety.</a:t>
            </a:r>
            <a:endParaRPr lang="en-US" sz="727" dirty="0"/>
          </a:p>
        </p:txBody>
      </p:sp>
      <p:sp>
        <p:nvSpPr>
          <p:cNvPr id="18" name="Shape 14"/>
          <p:cNvSpPr/>
          <p:nvPr/>
        </p:nvSpPr>
        <p:spPr>
          <a:xfrm>
            <a:off x="3262322" y="1143000"/>
            <a:ext cx="2619384" cy="314899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3262322" y="1143000"/>
            <a:ext cx="2619384" cy="5715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3262322" y="1143000"/>
            <a:ext cx="2619384" cy="109260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3262322" y="2228459"/>
            <a:ext cx="2619384" cy="7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3405197" y="1321594"/>
            <a:ext cx="233363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F17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OMB M-25-21</a:t>
            </a:r>
            <a:endParaRPr lang="en-US" sz="1193" dirty="0"/>
          </a:p>
        </p:txBody>
      </p:sp>
      <p:sp>
        <p:nvSpPr>
          <p:cNvPr id="23" name="Text 19"/>
          <p:cNvSpPr/>
          <p:nvPr/>
        </p:nvSpPr>
        <p:spPr>
          <a:xfrm>
            <a:off x="3405197" y="1607344"/>
            <a:ext cx="2333634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ACCELERATING FEDERAL USE OF AI THROUGH INNOVATION &amp; TRUST</a:t>
            </a:r>
            <a:endParaRPr lang="en-US" sz="683" dirty="0"/>
          </a:p>
        </p:txBody>
      </p:sp>
      <p:sp>
        <p:nvSpPr>
          <p:cNvPr id="24" name="Text 20"/>
          <p:cNvSpPr/>
          <p:nvPr/>
        </p:nvSpPr>
        <p:spPr>
          <a:xfrm>
            <a:off x="3405197" y="1944495"/>
            <a:ext cx="2333634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i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 3, 2025</a:t>
            </a:r>
            <a:endParaRPr lang="en-US" sz="621" dirty="0"/>
          </a:p>
        </p:txBody>
      </p:sp>
      <p:sp>
        <p:nvSpPr>
          <p:cNvPr id="25" name="Shape 21"/>
          <p:cNvSpPr/>
          <p:nvPr/>
        </p:nvSpPr>
        <p:spPr>
          <a:xfrm>
            <a:off x="3262322" y="2228459"/>
            <a:ext cx="2619384" cy="2063539"/>
          </a:xfrm>
          <a:prstGeom prst="rect">
            <a:avLst/>
          </a:prstGeom>
          <a:solidFill>
            <a:srgbClr val="FFF7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5197" y="2380264"/>
            <a:ext cx="85725" cy="78581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3533784" y="2371334"/>
            <a:ext cx="834033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34" b="1" kern="0" spc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CMGF ALIGNMENT</a:t>
            </a:r>
            <a:endParaRPr lang="en-US" sz="534" dirty="0"/>
          </a:p>
        </p:txBody>
      </p:sp>
      <p:sp>
        <p:nvSpPr>
          <p:cNvPr id="28" name="Text 23"/>
          <p:cNvSpPr/>
          <p:nvPr/>
        </p:nvSpPr>
        <p:spPr>
          <a:xfrm>
            <a:off x="3405197" y="2539212"/>
            <a:ext cx="2333634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334155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Authority-tagged signals with traceable constraint logic, mandatory human-in-the-loop authority, and full audit visibility — directly satisfying M-25-21 governance requirements.</a:t>
            </a:r>
            <a:endParaRPr lang="en-US" sz="727" dirty="0"/>
          </a:p>
        </p:txBody>
      </p:sp>
      <p:sp>
        <p:nvSpPr>
          <p:cNvPr id="29" name="Shape 24"/>
          <p:cNvSpPr/>
          <p:nvPr/>
        </p:nvSpPr>
        <p:spPr>
          <a:xfrm>
            <a:off x="6096019" y="1143000"/>
            <a:ext cx="2619384" cy="314899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6096019" y="1143000"/>
            <a:ext cx="2619384" cy="5715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6"/>
          <p:cNvSpPr/>
          <p:nvPr/>
        </p:nvSpPr>
        <p:spPr>
          <a:xfrm>
            <a:off x="6096019" y="1143000"/>
            <a:ext cx="2619384" cy="95260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7"/>
          <p:cNvSpPr/>
          <p:nvPr/>
        </p:nvSpPr>
        <p:spPr>
          <a:xfrm>
            <a:off x="6096019" y="2088459"/>
            <a:ext cx="2619384" cy="7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8"/>
          <p:cNvSpPr/>
          <p:nvPr/>
        </p:nvSpPr>
        <p:spPr>
          <a:xfrm>
            <a:off x="6238894" y="1321594"/>
            <a:ext cx="233363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F17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NIST AI RMF</a:t>
            </a:r>
            <a:endParaRPr lang="en-US" sz="1193" dirty="0"/>
          </a:p>
        </p:txBody>
      </p:sp>
      <p:sp>
        <p:nvSpPr>
          <p:cNvPr id="34" name="Text 29"/>
          <p:cNvSpPr/>
          <p:nvPr/>
        </p:nvSpPr>
        <p:spPr>
          <a:xfrm>
            <a:off x="6238894" y="1607344"/>
            <a:ext cx="2333634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RISK MANAGEMENT FRAMEWORK</a:t>
            </a:r>
            <a:endParaRPr lang="en-US" sz="683" dirty="0"/>
          </a:p>
        </p:txBody>
      </p:sp>
      <p:sp>
        <p:nvSpPr>
          <p:cNvPr id="35" name="Text 30"/>
          <p:cNvSpPr/>
          <p:nvPr/>
        </p:nvSpPr>
        <p:spPr>
          <a:xfrm>
            <a:off x="6238894" y="1804495"/>
            <a:ext cx="2333634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i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Trustworthiness &amp; Accountability</a:t>
            </a:r>
            <a:endParaRPr lang="en-US" sz="621" dirty="0"/>
          </a:p>
        </p:txBody>
      </p:sp>
      <p:sp>
        <p:nvSpPr>
          <p:cNvPr id="36" name="Shape 31"/>
          <p:cNvSpPr/>
          <p:nvPr/>
        </p:nvSpPr>
        <p:spPr>
          <a:xfrm>
            <a:off x="6096019" y="2088459"/>
            <a:ext cx="2619384" cy="2203540"/>
          </a:xfrm>
          <a:prstGeom prst="rect">
            <a:avLst/>
          </a:prstGeom>
          <a:solidFill>
            <a:srgbClr val="FFF7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8894" y="2240263"/>
            <a:ext cx="85725" cy="78581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6367481" y="2231334"/>
            <a:ext cx="834033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34" b="1" kern="0" spc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CMGF ALIGNMENT</a:t>
            </a:r>
            <a:endParaRPr lang="en-US" sz="534" dirty="0"/>
          </a:p>
        </p:txBody>
      </p:sp>
      <p:sp>
        <p:nvSpPr>
          <p:cNvPr id="39" name="Text 33"/>
          <p:cNvSpPr/>
          <p:nvPr/>
        </p:nvSpPr>
        <p:spPr>
          <a:xfrm>
            <a:off x="6238894" y="2399212"/>
            <a:ext cx="2333634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334155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Governance controls, audit logging, and deterministic policy enforcement structured explicitly around the NIST AI RMF </a:t>
            </a:r>
            <a:r>
              <a:rPr lang="en-US" sz="727" i="1" dirty="0">
                <a:solidFill>
                  <a:srgbClr val="334155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Govern-Map-Measure-Manage</a:t>
            </a:r>
            <a:r>
              <a:rPr lang="en-US" sz="727" dirty="0">
                <a:solidFill>
                  <a:srgbClr val="334155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lifecycle.</a:t>
            </a:r>
            <a:endParaRPr lang="en-US" sz="727" dirty="0"/>
          </a:p>
        </p:txBody>
      </p:sp>
      <p:sp>
        <p:nvSpPr>
          <p:cNvPr id="40" name="Shape 34"/>
          <p:cNvSpPr/>
          <p:nvPr/>
        </p:nvSpPr>
        <p:spPr>
          <a:xfrm>
            <a:off x="0" y="4577748"/>
            <a:ext cx="9144000" cy="565752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625" y="4774899"/>
            <a:ext cx="214313" cy="171450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785813" y="4720623"/>
            <a:ext cx="7929563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FED7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 Assurance:</a:t>
            </a:r>
            <a:r>
              <a:rPr lang="en-US" sz="727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Every system signal is traceable to authoritative policy sources while preserving human decision authority. Alignment reduces institutional adoption risk.</a:t>
            </a:r>
            <a:endParaRPr lang="en-US" sz="727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86789C-776E-BFDA-D219-3E890FD31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224"/>
            <a:ext cx="9144000" cy="501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2160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828675"/>
            <a:ext cx="9144000" cy="28575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28625" y="214313"/>
            <a:ext cx="8286750" cy="3232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CMGF Architecture: From Fragmentation to Integration</a:t>
            </a:r>
            <a:endParaRPr lang="en-US" sz="1808" dirty="0"/>
          </a:p>
        </p:txBody>
      </p:sp>
      <p:sp>
        <p:nvSpPr>
          <p:cNvPr id="6" name="Text 3"/>
          <p:cNvSpPr/>
          <p:nvPr/>
        </p:nvSpPr>
        <p:spPr>
          <a:xfrm>
            <a:off x="428625" y="573286"/>
            <a:ext cx="82867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Binding independent authoritative domains into a coherent decision environment</a:t>
            </a:r>
            <a:endParaRPr lang="en-US" sz="942" dirty="0"/>
          </a:p>
        </p:txBody>
      </p:sp>
      <p:sp>
        <p:nvSpPr>
          <p:cNvPr id="7" name="Shape 4"/>
          <p:cNvSpPr/>
          <p:nvPr/>
        </p:nvSpPr>
        <p:spPr>
          <a:xfrm>
            <a:off x="285750" y="1000125"/>
            <a:ext cx="2074087" cy="3673673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28625" y="1143000"/>
            <a:ext cx="1788337" cy="228600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kern="0" spc="1" dirty="0">
                <a:solidFill>
                  <a:srgbClr val="0F17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FRAGMENTED ECOSYSTEM</a:t>
            </a:r>
            <a:endParaRPr lang="en-US" sz="784" dirty="0"/>
          </a:p>
        </p:txBody>
      </p:sp>
      <p:sp>
        <p:nvSpPr>
          <p:cNvPr id="9" name="Shape 6"/>
          <p:cNvSpPr/>
          <p:nvPr/>
        </p:nvSpPr>
        <p:spPr>
          <a:xfrm>
            <a:off x="428625" y="1550194"/>
            <a:ext cx="1788337" cy="25538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28625" y="1550194"/>
            <a:ext cx="28575" cy="255389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28625" y="1550194"/>
            <a:ext cx="1788337" cy="25538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Federal Statutory (DoD, VA)</a:t>
            </a:r>
            <a:endParaRPr lang="en-US" sz="634" dirty="0"/>
          </a:p>
        </p:txBody>
      </p:sp>
      <p:sp>
        <p:nvSpPr>
          <p:cNvPr id="12" name="Shape 9"/>
          <p:cNvSpPr/>
          <p:nvPr/>
        </p:nvSpPr>
        <p:spPr>
          <a:xfrm>
            <a:off x="428625" y="1877020"/>
            <a:ext cx="1788337" cy="25538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28625" y="1877020"/>
            <a:ext cx="28575" cy="255389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28625" y="1877020"/>
            <a:ext cx="1788337" cy="25538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 Regulatory Boards</a:t>
            </a:r>
            <a:endParaRPr lang="en-US" sz="634" dirty="0"/>
          </a:p>
        </p:txBody>
      </p:sp>
      <p:sp>
        <p:nvSpPr>
          <p:cNvPr id="15" name="Shape 12"/>
          <p:cNvSpPr/>
          <p:nvPr/>
        </p:nvSpPr>
        <p:spPr>
          <a:xfrm>
            <a:off x="428625" y="2203847"/>
            <a:ext cx="1788337" cy="25538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28625" y="2203847"/>
            <a:ext cx="28575" cy="255389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28625" y="2203847"/>
            <a:ext cx="1788337" cy="25538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Institutional Education</a:t>
            </a:r>
            <a:endParaRPr lang="en-US" sz="634" dirty="0"/>
          </a:p>
        </p:txBody>
      </p:sp>
      <p:sp>
        <p:nvSpPr>
          <p:cNvPr id="18" name="Shape 15"/>
          <p:cNvSpPr/>
          <p:nvPr/>
        </p:nvSpPr>
        <p:spPr>
          <a:xfrm>
            <a:off x="428625" y="2530673"/>
            <a:ext cx="1788337" cy="25538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28625" y="2530673"/>
            <a:ext cx="28575" cy="255389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28625" y="2530673"/>
            <a:ext cx="1788337" cy="25538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Credentialing Bodies</a:t>
            </a:r>
            <a:endParaRPr lang="en-US" sz="634" dirty="0"/>
          </a:p>
        </p:txBody>
      </p:sp>
      <p:sp>
        <p:nvSpPr>
          <p:cNvPr id="21" name="Shape 18"/>
          <p:cNvSpPr/>
          <p:nvPr/>
        </p:nvSpPr>
        <p:spPr>
          <a:xfrm>
            <a:off x="428625" y="2857500"/>
            <a:ext cx="1788337" cy="25538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28625" y="2857500"/>
            <a:ext cx="28575" cy="255389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28625" y="2857500"/>
            <a:ext cx="1788337" cy="25538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Benefits Systems</a:t>
            </a:r>
            <a:endParaRPr lang="en-US" sz="634" dirty="0"/>
          </a:p>
        </p:txBody>
      </p:sp>
      <p:sp>
        <p:nvSpPr>
          <p:cNvPr id="24" name="Shape 21"/>
          <p:cNvSpPr/>
          <p:nvPr/>
        </p:nvSpPr>
        <p:spPr>
          <a:xfrm>
            <a:off x="428625" y="3184327"/>
            <a:ext cx="1788337" cy="25538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28625" y="3184327"/>
            <a:ext cx="28575" cy="255389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28625" y="3184327"/>
            <a:ext cx="1788337" cy="25538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Labor Market Data</a:t>
            </a:r>
            <a:endParaRPr lang="en-US" sz="634" dirty="0"/>
          </a:p>
        </p:txBody>
      </p:sp>
      <p:sp>
        <p:nvSpPr>
          <p:cNvPr id="27" name="Text 24"/>
          <p:cNvSpPr/>
          <p:nvPr/>
        </p:nvSpPr>
        <p:spPr>
          <a:xfrm>
            <a:off x="428625" y="4338042"/>
            <a:ext cx="1788337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68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Independent authorities operating without coordinated mediation.</a:t>
            </a:r>
            <a:endParaRPr lang="en-US" sz="568" dirty="0"/>
          </a:p>
        </p:txBody>
      </p:sp>
      <p:sp>
        <p:nvSpPr>
          <p:cNvPr id="28" name="Shape 25"/>
          <p:cNvSpPr/>
          <p:nvPr/>
        </p:nvSpPr>
        <p:spPr>
          <a:xfrm>
            <a:off x="2502712" y="1000125"/>
            <a:ext cx="3725912" cy="3673673"/>
          </a:xfrm>
          <a:prstGeom prst="rect">
            <a:avLst/>
          </a:prstGeom>
          <a:solidFill>
            <a:srgbClr val="FFF7ED"/>
          </a:solidFill>
          <a:ln w="18288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2645839" y="1143000"/>
            <a:ext cx="3439576" cy="228600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kern="0" spc="1" dirty="0">
                <a:solidFill>
                  <a:srgbClr val="B4530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CMGF INTEGRATION LAYER</a:t>
            </a:r>
            <a:endParaRPr lang="en-US" sz="784" dirty="0"/>
          </a:p>
        </p:txBody>
      </p:sp>
      <p:sp>
        <p:nvSpPr>
          <p:cNvPr id="30" name="Shape 27"/>
          <p:cNvSpPr/>
          <p:nvPr/>
        </p:nvSpPr>
        <p:spPr>
          <a:xfrm>
            <a:off x="2645839" y="1478756"/>
            <a:ext cx="3439576" cy="432197"/>
          </a:xfrm>
          <a:prstGeom prst="rect">
            <a:avLst/>
          </a:prstGeom>
          <a:solidFill>
            <a:srgbClr val="FFFFFF"/>
          </a:solidFill>
          <a:ln w="9144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2731564" y="1564481"/>
            <a:ext cx="326812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Advisory &amp; Guidance Flow</a:t>
            </a:r>
            <a:endParaRPr lang="en-US" sz="683" dirty="0"/>
          </a:p>
        </p:txBody>
      </p:sp>
      <p:sp>
        <p:nvSpPr>
          <p:cNvPr id="32" name="Text 29"/>
          <p:cNvSpPr/>
          <p:nvPr/>
        </p:nvSpPr>
        <p:spPr>
          <a:xfrm>
            <a:off x="2731564" y="1714500"/>
            <a:ext cx="3268126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68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Processes individual scenarios against governed constraints</a:t>
            </a:r>
            <a:endParaRPr lang="en-US" sz="568" dirty="0"/>
          </a:p>
        </p:txBody>
      </p:sp>
      <p:sp>
        <p:nvSpPr>
          <p:cNvPr id="33" name="Shape 30"/>
          <p:cNvSpPr/>
          <p:nvPr/>
        </p:nvSpPr>
        <p:spPr>
          <a:xfrm>
            <a:off x="2645839" y="1968103"/>
            <a:ext cx="3439576" cy="432197"/>
          </a:xfrm>
          <a:prstGeom prst="rect">
            <a:avLst/>
          </a:prstGeom>
          <a:solidFill>
            <a:srgbClr val="FFFFFF"/>
          </a:solidFill>
          <a:ln w="9144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2731564" y="2053828"/>
            <a:ext cx="326812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 Binding Infrastructure</a:t>
            </a:r>
            <a:endParaRPr lang="en-US" sz="683" dirty="0"/>
          </a:p>
        </p:txBody>
      </p:sp>
      <p:sp>
        <p:nvSpPr>
          <p:cNvPr id="35" name="Text 32"/>
          <p:cNvSpPr/>
          <p:nvPr/>
        </p:nvSpPr>
        <p:spPr>
          <a:xfrm>
            <a:off x="2731564" y="2203847"/>
            <a:ext cx="3268126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68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Encodes law, policy, and rules into deterministic logic</a:t>
            </a:r>
            <a:endParaRPr lang="en-US" sz="568" dirty="0"/>
          </a:p>
        </p:txBody>
      </p:sp>
      <p:sp>
        <p:nvSpPr>
          <p:cNvPr id="36" name="Shape 33"/>
          <p:cNvSpPr/>
          <p:nvPr/>
        </p:nvSpPr>
        <p:spPr>
          <a:xfrm>
            <a:off x="2645839" y="2457450"/>
            <a:ext cx="3439576" cy="432197"/>
          </a:xfrm>
          <a:prstGeom prst="rect">
            <a:avLst/>
          </a:prstGeom>
          <a:solidFill>
            <a:srgbClr val="FFFFFF"/>
          </a:solidFill>
          <a:ln w="9144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2731564" y="2543175"/>
            <a:ext cx="326812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Aggregate Insight</a:t>
            </a:r>
            <a:endParaRPr lang="en-US" sz="683" dirty="0"/>
          </a:p>
        </p:txBody>
      </p:sp>
      <p:sp>
        <p:nvSpPr>
          <p:cNvPr id="38" name="Text 35"/>
          <p:cNvSpPr/>
          <p:nvPr/>
        </p:nvSpPr>
        <p:spPr>
          <a:xfrm>
            <a:off x="2731564" y="2693194"/>
            <a:ext cx="3268126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68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Provides macro-level visibility into system performance</a:t>
            </a:r>
            <a:endParaRPr lang="en-US" sz="568" dirty="0"/>
          </a:p>
        </p:txBody>
      </p:sp>
      <p:pic>
        <p:nvPicPr>
          <p:cNvPr id="3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5839" y="4066580"/>
            <a:ext cx="756679" cy="128588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2810759" y="4230886"/>
            <a:ext cx="426839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48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AUTHORITY</a:t>
            </a:r>
            <a:endParaRPr lang="en-US" sz="485" dirty="0"/>
          </a:p>
        </p:txBody>
      </p:sp>
      <p:pic>
        <p:nvPicPr>
          <p:cNvPr id="4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0119" y="4066580"/>
            <a:ext cx="756679" cy="128588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3784513" y="4230886"/>
            <a:ext cx="267891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48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</a:t>
            </a:r>
            <a:endParaRPr lang="en-US" sz="485" dirty="0"/>
          </a:p>
        </p:txBody>
      </p:sp>
      <p:pic>
        <p:nvPicPr>
          <p:cNvPr id="4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4399" y="4066580"/>
            <a:ext cx="756679" cy="128588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4718084" y="4230886"/>
            <a:ext cx="189309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48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</a:t>
            </a:r>
            <a:endParaRPr lang="en-US" sz="485" dirty="0"/>
          </a:p>
        </p:txBody>
      </p:sp>
      <p:pic>
        <p:nvPicPr>
          <p:cNvPr id="4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28679" y="4066580"/>
            <a:ext cx="756679" cy="128588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5586468" y="4230886"/>
            <a:ext cx="241102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48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</a:t>
            </a:r>
            <a:endParaRPr lang="en-US" sz="485" dirty="0"/>
          </a:p>
        </p:txBody>
      </p:sp>
      <p:sp>
        <p:nvSpPr>
          <p:cNvPr id="47" name="Text 40"/>
          <p:cNvSpPr/>
          <p:nvPr/>
        </p:nvSpPr>
        <p:spPr>
          <a:xfrm>
            <a:off x="2645839" y="4425553"/>
            <a:ext cx="3439576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84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Controlled Source of Truth Through Governed Federation</a:t>
            </a:r>
            <a:endParaRPr lang="en-US" sz="584" dirty="0"/>
          </a:p>
        </p:txBody>
      </p:sp>
      <p:sp>
        <p:nvSpPr>
          <p:cNvPr id="48" name="Shape 41"/>
          <p:cNvSpPr/>
          <p:nvPr/>
        </p:nvSpPr>
        <p:spPr>
          <a:xfrm>
            <a:off x="6371165" y="1000125"/>
            <a:ext cx="2487085" cy="3673673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2"/>
          <p:cNvSpPr/>
          <p:nvPr/>
        </p:nvSpPr>
        <p:spPr>
          <a:xfrm>
            <a:off x="6514040" y="1143000"/>
            <a:ext cx="2201335" cy="228600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kern="0" spc="1" dirty="0">
                <a:solidFill>
                  <a:srgbClr val="0F17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INTEGRATED ENVIRONMENT</a:t>
            </a:r>
            <a:endParaRPr lang="en-US" sz="784" dirty="0"/>
          </a:p>
        </p:txBody>
      </p:sp>
      <p:sp>
        <p:nvSpPr>
          <p:cNvPr id="50" name="Shape 43"/>
          <p:cNvSpPr/>
          <p:nvPr/>
        </p:nvSpPr>
        <p:spPr>
          <a:xfrm>
            <a:off x="6514040" y="1478756"/>
            <a:ext cx="2201335" cy="24824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4"/>
          <p:cNvSpPr/>
          <p:nvPr/>
        </p:nvSpPr>
        <p:spPr>
          <a:xfrm>
            <a:off x="6514040" y="1478756"/>
            <a:ext cx="28575" cy="248245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45"/>
          <p:cNvSpPr/>
          <p:nvPr/>
        </p:nvSpPr>
        <p:spPr>
          <a:xfrm>
            <a:off x="6514040" y="1478756"/>
            <a:ext cx="2201335" cy="24824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Coordinated Pathway Visibility</a:t>
            </a:r>
            <a:endParaRPr lang="en-US" sz="621" dirty="0"/>
          </a:p>
        </p:txBody>
      </p:sp>
      <p:sp>
        <p:nvSpPr>
          <p:cNvPr id="53" name="Shape 46"/>
          <p:cNvSpPr/>
          <p:nvPr/>
        </p:nvSpPr>
        <p:spPr>
          <a:xfrm>
            <a:off x="6514040" y="1784152"/>
            <a:ext cx="2201335" cy="24824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47"/>
          <p:cNvSpPr/>
          <p:nvPr/>
        </p:nvSpPr>
        <p:spPr>
          <a:xfrm>
            <a:off x="6514040" y="1784152"/>
            <a:ext cx="28575" cy="248245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48"/>
          <p:cNvSpPr/>
          <p:nvPr/>
        </p:nvSpPr>
        <p:spPr>
          <a:xfrm>
            <a:off x="6514040" y="1784152"/>
            <a:ext cx="2201335" cy="24824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Policy-Aligned Decision Support</a:t>
            </a:r>
            <a:endParaRPr lang="en-US" sz="621" dirty="0"/>
          </a:p>
        </p:txBody>
      </p:sp>
      <p:sp>
        <p:nvSpPr>
          <p:cNvPr id="56" name="Shape 49"/>
          <p:cNvSpPr/>
          <p:nvPr/>
        </p:nvSpPr>
        <p:spPr>
          <a:xfrm>
            <a:off x="6514040" y="2089547"/>
            <a:ext cx="2201335" cy="24824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0"/>
          <p:cNvSpPr/>
          <p:nvPr/>
        </p:nvSpPr>
        <p:spPr>
          <a:xfrm>
            <a:off x="6514040" y="2089547"/>
            <a:ext cx="28575" cy="248245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1"/>
          <p:cNvSpPr/>
          <p:nvPr/>
        </p:nvSpPr>
        <p:spPr>
          <a:xfrm>
            <a:off x="6514040" y="2089547"/>
            <a:ext cx="2201335" cy="24824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Governed Signal Derivation</a:t>
            </a:r>
            <a:endParaRPr lang="en-US" sz="621" dirty="0"/>
          </a:p>
        </p:txBody>
      </p:sp>
      <p:sp>
        <p:nvSpPr>
          <p:cNvPr id="59" name="Shape 52"/>
          <p:cNvSpPr/>
          <p:nvPr/>
        </p:nvSpPr>
        <p:spPr>
          <a:xfrm>
            <a:off x="6514040" y="2394942"/>
            <a:ext cx="2201335" cy="24824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3"/>
          <p:cNvSpPr/>
          <p:nvPr/>
        </p:nvSpPr>
        <p:spPr>
          <a:xfrm>
            <a:off x="6514040" y="2394942"/>
            <a:ext cx="28575" cy="248245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4"/>
          <p:cNvSpPr/>
          <p:nvPr/>
        </p:nvSpPr>
        <p:spPr>
          <a:xfrm>
            <a:off x="6514040" y="2394942"/>
            <a:ext cx="2201335" cy="24824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Feedback Visibility</a:t>
            </a:r>
            <a:endParaRPr lang="en-US" sz="621" dirty="0"/>
          </a:p>
        </p:txBody>
      </p:sp>
      <p:sp>
        <p:nvSpPr>
          <p:cNvPr id="62" name="Shape 55"/>
          <p:cNvSpPr/>
          <p:nvPr/>
        </p:nvSpPr>
        <p:spPr>
          <a:xfrm>
            <a:off x="6514040" y="3750469"/>
            <a:ext cx="2201335" cy="532209"/>
          </a:xfrm>
          <a:prstGeom prst="rect">
            <a:avLst/>
          </a:prstGeom>
          <a:solidFill>
            <a:srgbClr val="FEF2F2"/>
          </a:solidFill>
          <a:ln w="9144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5477" y="3845123"/>
            <a:ext cx="78581" cy="78581"/>
          </a:xfrm>
          <a:prstGeom prst="rect">
            <a:avLst/>
          </a:prstGeom>
        </p:spPr>
      </p:pic>
      <p:sp>
        <p:nvSpPr>
          <p:cNvPr id="64" name="Text 56"/>
          <p:cNvSpPr/>
          <p:nvPr/>
        </p:nvSpPr>
        <p:spPr>
          <a:xfrm>
            <a:off x="6664058" y="3836194"/>
            <a:ext cx="905470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34" b="1" dirty="0">
                <a:solidFill>
                  <a:srgbClr val="B9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Predictive Modeling</a:t>
            </a:r>
            <a:endParaRPr lang="en-US" sz="534" dirty="0"/>
          </a:p>
        </p:txBody>
      </p:sp>
      <p:pic>
        <p:nvPicPr>
          <p:cNvPr id="6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5477" y="3970139"/>
            <a:ext cx="78581" cy="78581"/>
          </a:xfrm>
          <a:prstGeom prst="rect">
            <a:avLst/>
          </a:prstGeom>
        </p:spPr>
      </p:pic>
      <p:sp>
        <p:nvSpPr>
          <p:cNvPr id="66" name="Text 57"/>
          <p:cNvSpPr/>
          <p:nvPr/>
        </p:nvSpPr>
        <p:spPr>
          <a:xfrm>
            <a:off x="6664058" y="3961209"/>
            <a:ext cx="962620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34" b="1" dirty="0">
                <a:solidFill>
                  <a:srgbClr val="B9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Automated Decisions</a:t>
            </a:r>
            <a:endParaRPr lang="en-US" sz="534" dirty="0"/>
          </a:p>
        </p:txBody>
      </p:sp>
      <p:pic>
        <p:nvPicPr>
          <p:cNvPr id="67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5477" y="4095155"/>
            <a:ext cx="78581" cy="78581"/>
          </a:xfrm>
          <a:prstGeom prst="rect">
            <a:avLst/>
          </a:prstGeom>
        </p:spPr>
      </p:pic>
      <p:sp>
        <p:nvSpPr>
          <p:cNvPr id="68" name="Text 58"/>
          <p:cNvSpPr/>
          <p:nvPr/>
        </p:nvSpPr>
        <p:spPr>
          <a:xfrm>
            <a:off x="6664058" y="4086225"/>
            <a:ext cx="1060847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34" b="1" dirty="0">
                <a:solidFill>
                  <a:srgbClr val="B9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Optimization Objectives</a:t>
            </a:r>
            <a:endParaRPr lang="en-US" sz="534" dirty="0"/>
          </a:p>
        </p:txBody>
      </p:sp>
      <p:sp>
        <p:nvSpPr>
          <p:cNvPr id="69" name="Shape 59"/>
          <p:cNvSpPr/>
          <p:nvPr/>
        </p:nvSpPr>
        <p:spPr>
          <a:xfrm>
            <a:off x="6514040" y="4282678"/>
            <a:ext cx="2201335" cy="248245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35146" y="4363045"/>
            <a:ext cx="85725" cy="85725"/>
          </a:xfrm>
          <a:prstGeom prst="rect">
            <a:avLst/>
          </a:prstGeom>
        </p:spPr>
      </p:pic>
      <p:sp>
        <p:nvSpPr>
          <p:cNvPr id="71" name="Text 60"/>
          <p:cNvSpPr/>
          <p:nvPr/>
        </p:nvSpPr>
        <p:spPr>
          <a:xfrm>
            <a:off x="6920871" y="4354116"/>
            <a:ext cx="1473398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 CONTROLS ACTIVE</a:t>
            </a:r>
            <a:endParaRPr lang="en-US" sz="584" dirty="0"/>
          </a:p>
        </p:txBody>
      </p:sp>
      <p:sp>
        <p:nvSpPr>
          <p:cNvPr id="72" name="Shape 61"/>
          <p:cNvSpPr/>
          <p:nvPr/>
        </p:nvSpPr>
        <p:spPr>
          <a:xfrm>
            <a:off x="0" y="4816673"/>
            <a:ext cx="9144000" cy="326827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Shape 62"/>
          <p:cNvSpPr/>
          <p:nvPr/>
        </p:nvSpPr>
        <p:spPr>
          <a:xfrm>
            <a:off x="0" y="4816673"/>
            <a:ext cx="9144000" cy="7144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63"/>
          <p:cNvSpPr/>
          <p:nvPr/>
        </p:nvSpPr>
        <p:spPr>
          <a:xfrm>
            <a:off x="0" y="4816673"/>
            <a:ext cx="9144000" cy="326827"/>
          </a:xfrm>
          <a:prstGeom prst="rect">
            <a:avLst/>
          </a:prstGeom>
          <a:noFill/>
          <a:ln/>
        </p:spPr>
        <p:txBody>
          <a:bodyPr wrap="square" lIns="340233" tIns="127508" rIns="340233" bIns="127508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621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"Truth originates from authoritative systems of record. CMGF mediates, validates, and explains without creating new authority."</a:t>
            </a:r>
            <a:endParaRPr lang="en-US" sz="62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828675"/>
            <a:ext cx="9144000" cy="28575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28625" y="214313"/>
            <a:ext cx="8286750" cy="3768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Platform Modules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428625" y="626864"/>
            <a:ext cx="82867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Functional components of the Career Mobility Governance Framework</a:t>
            </a:r>
            <a:endParaRPr lang="en-US" sz="942" dirty="0"/>
          </a:p>
        </p:txBody>
      </p:sp>
      <p:sp>
        <p:nvSpPr>
          <p:cNvPr id="7" name="Shape 4"/>
          <p:cNvSpPr/>
          <p:nvPr/>
        </p:nvSpPr>
        <p:spPr>
          <a:xfrm>
            <a:off x="428625" y="1143000"/>
            <a:ext cx="2614613" cy="3714750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340778" y="1143000"/>
            <a:ext cx="692944" cy="21967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340778" y="1143000"/>
            <a:ext cx="692944" cy="219670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kern="0" spc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PLANNED</a:t>
            </a:r>
            <a:endParaRPr lang="en-US" sz="584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2566" y="1384102"/>
            <a:ext cx="357188" cy="2857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71500" y="1810941"/>
            <a:ext cx="2319347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17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Service Member Hub</a:t>
            </a:r>
            <a:endParaRPr lang="en-US" sz="987" dirty="0"/>
          </a:p>
        </p:txBody>
      </p:sp>
      <p:sp>
        <p:nvSpPr>
          <p:cNvPr id="12" name="Text 8"/>
          <p:cNvSpPr/>
          <p:nvPr/>
        </p:nvSpPr>
        <p:spPr>
          <a:xfrm>
            <a:off x="571500" y="2027039"/>
            <a:ext cx="231934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7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Self-service portal for education and career planning milestones.</a:t>
            </a:r>
            <a:endParaRPr lang="en-US" sz="674" dirty="0"/>
          </a:p>
        </p:txBody>
      </p:sp>
      <p:sp>
        <p:nvSpPr>
          <p:cNvPr id="13" name="Text 9"/>
          <p:cNvSpPr/>
          <p:nvPr/>
        </p:nvSpPr>
        <p:spPr>
          <a:xfrm>
            <a:off x="571500" y="2612827"/>
            <a:ext cx="2319347" cy="132159"/>
          </a:xfrm>
          <a:prstGeom prst="rect">
            <a:avLst/>
          </a:prstGeom>
          <a:noFill/>
          <a:ln/>
        </p:spPr>
        <p:txBody>
          <a:bodyPr wrap="none" lIns="0" tIns="0" rIns="0" bIns="34036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34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USERS</a:t>
            </a:r>
            <a:endParaRPr lang="en-US" sz="534" dirty="0"/>
          </a:p>
        </p:txBody>
      </p:sp>
      <p:sp>
        <p:nvSpPr>
          <p:cNvPr id="14" name="Text 10"/>
          <p:cNvSpPr/>
          <p:nvPr/>
        </p:nvSpPr>
        <p:spPr>
          <a:xfrm>
            <a:off x="571500" y="2802136"/>
            <a:ext cx="2319347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Members | Veterans</a:t>
            </a:r>
            <a:endParaRPr lang="en-US" sz="683" dirty="0"/>
          </a:p>
        </p:txBody>
      </p:sp>
      <p:sp>
        <p:nvSpPr>
          <p:cNvPr id="15" name="Text 11"/>
          <p:cNvSpPr/>
          <p:nvPr/>
        </p:nvSpPr>
        <p:spPr>
          <a:xfrm>
            <a:off x="571500" y="3066455"/>
            <a:ext cx="2319347" cy="132159"/>
          </a:xfrm>
          <a:prstGeom prst="rect">
            <a:avLst/>
          </a:prstGeom>
          <a:noFill/>
          <a:ln/>
        </p:spPr>
        <p:txBody>
          <a:bodyPr wrap="none" lIns="0" tIns="0" rIns="0" bIns="34036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34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FEATURES</a:t>
            </a:r>
            <a:endParaRPr lang="en-US" sz="534" dirty="0"/>
          </a:p>
        </p:txBody>
      </p:sp>
      <p:sp>
        <p:nvSpPr>
          <p:cNvPr id="16" name="Text 12"/>
          <p:cNvSpPr/>
          <p:nvPr/>
        </p:nvSpPr>
        <p:spPr>
          <a:xfrm>
            <a:off x="571500" y="3255764"/>
            <a:ext cx="4464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34" dirty="0"/>
          </a:p>
        </p:txBody>
      </p:sp>
      <p:sp>
        <p:nvSpPr>
          <p:cNvPr id="17" name="Text 13"/>
          <p:cNvSpPr/>
          <p:nvPr/>
        </p:nvSpPr>
        <p:spPr>
          <a:xfrm>
            <a:off x="678656" y="3255764"/>
            <a:ext cx="131445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 transition dashboard</a:t>
            </a:r>
            <a:endParaRPr lang="en-US" sz="674" dirty="0"/>
          </a:p>
        </p:txBody>
      </p:sp>
      <p:sp>
        <p:nvSpPr>
          <p:cNvPr id="18" name="Text 14"/>
          <p:cNvSpPr/>
          <p:nvPr/>
        </p:nvSpPr>
        <p:spPr>
          <a:xfrm>
            <a:off x="571500" y="3425428"/>
            <a:ext cx="4464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34" dirty="0"/>
          </a:p>
        </p:txBody>
      </p:sp>
      <p:sp>
        <p:nvSpPr>
          <p:cNvPr id="19" name="Text 15"/>
          <p:cNvSpPr/>
          <p:nvPr/>
        </p:nvSpPr>
        <p:spPr>
          <a:xfrm>
            <a:off x="678656" y="3425428"/>
            <a:ext cx="1225153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Progress milestone tracking</a:t>
            </a:r>
            <a:endParaRPr lang="en-US" sz="674" dirty="0"/>
          </a:p>
        </p:txBody>
      </p:sp>
      <p:sp>
        <p:nvSpPr>
          <p:cNvPr id="20" name="Text 16"/>
          <p:cNvSpPr/>
          <p:nvPr/>
        </p:nvSpPr>
        <p:spPr>
          <a:xfrm>
            <a:off x="571500" y="3595092"/>
            <a:ext cx="4464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34" dirty="0"/>
          </a:p>
        </p:txBody>
      </p:sp>
      <p:sp>
        <p:nvSpPr>
          <p:cNvPr id="21" name="Text 17"/>
          <p:cNvSpPr/>
          <p:nvPr/>
        </p:nvSpPr>
        <p:spPr>
          <a:xfrm>
            <a:off x="678656" y="3595092"/>
            <a:ext cx="90547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 translation tools</a:t>
            </a:r>
            <a:endParaRPr lang="en-US" sz="674" dirty="0"/>
          </a:p>
        </p:txBody>
      </p:sp>
      <p:sp>
        <p:nvSpPr>
          <p:cNvPr id="22" name="Shape 18"/>
          <p:cNvSpPr/>
          <p:nvPr/>
        </p:nvSpPr>
        <p:spPr>
          <a:xfrm>
            <a:off x="3248034" y="1143000"/>
            <a:ext cx="2619384" cy="3714750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5158960" y="1143000"/>
            <a:ext cx="703659" cy="21967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5158960" y="1143000"/>
            <a:ext cx="703659" cy="219670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kern="0" spc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</a:t>
            </a:r>
            <a:endParaRPr lang="en-US" sz="584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4810" y="1384102"/>
            <a:ext cx="285750" cy="28575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3395653" y="1810941"/>
            <a:ext cx="2324091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17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AI Services Layer</a:t>
            </a:r>
            <a:endParaRPr lang="en-US" sz="987" dirty="0"/>
          </a:p>
        </p:txBody>
      </p:sp>
      <p:sp>
        <p:nvSpPr>
          <p:cNvPr id="27" name="Text 22"/>
          <p:cNvSpPr/>
          <p:nvPr/>
        </p:nvSpPr>
        <p:spPr>
          <a:xfrm>
            <a:off x="3395653" y="2027039"/>
            <a:ext cx="23240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7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Intelligent services providing governed translation and correlation.</a:t>
            </a:r>
            <a:endParaRPr lang="en-US" sz="674" dirty="0"/>
          </a:p>
        </p:txBody>
      </p:sp>
      <p:sp>
        <p:nvSpPr>
          <p:cNvPr id="28" name="Text 23"/>
          <p:cNvSpPr/>
          <p:nvPr/>
        </p:nvSpPr>
        <p:spPr>
          <a:xfrm>
            <a:off x="3395653" y="2612827"/>
            <a:ext cx="2324091" cy="132159"/>
          </a:xfrm>
          <a:prstGeom prst="rect">
            <a:avLst/>
          </a:prstGeom>
          <a:noFill/>
          <a:ln/>
        </p:spPr>
        <p:txBody>
          <a:bodyPr wrap="none" lIns="0" tIns="0" rIns="0" bIns="34036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34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USERS</a:t>
            </a:r>
            <a:endParaRPr lang="en-US" sz="534" dirty="0"/>
          </a:p>
        </p:txBody>
      </p:sp>
      <p:sp>
        <p:nvSpPr>
          <p:cNvPr id="29" name="Text 24"/>
          <p:cNvSpPr/>
          <p:nvPr/>
        </p:nvSpPr>
        <p:spPr>
          <a:xfrm>
            <a:off x="3395653" y="2802136"/>
            <a:ext cx="232409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Services | ISR | Hub</a:t>
            </a:r>
            <a:endParaRPr lang="en-US" sz="683" dirty="0"/>
          </a:p>
        </p:txBody>
      </p:sp>
      <p:sp>
        <p:nvSpPr>
          <p:cNvPr id="30" name="Text 25"/>
          <p:cNvSpPr/>
          <p:nvPr/>
        </p:nvSpPr>
        <p:spPr>
          <a:xfrm>
            <a:off x="3395653" y="3066455"/>
            <a:ext cx="2324091" cy="132159"/>
          </a:xfrm>
          <a:prstGeom prst="rect">
            <a:avLst/>
          </a:prstGeom>
          <a:noFill/>
          <a:ln/>
        </p:spPr>
        <p:txBody>
          <a:bodyPr wrap="none" lIns="0" tIns="0" rIns="0" bIns="34036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34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FEATURES</a:t>
            </a:r>
            <a:endParaRPr lang="en-US" sz="534" dirty="0"/>
          </a:p>
        </p:txBody>
      </p:sp>
      <p:sp>
        <p:nvSpPr>
          <p:cNvPr id="31" name="Text 26"/>
          <p:cNvSpPr/>
          <p:nvPr/>
        </p:nvSpPr>
        <p:spPr>
          <a:xfrm>
            <a:off x="3395653" y="3255764"/>
            <a:ext cx="4464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34" dirty="0"/>
          </a:p>
        </p:txBody>
      </p:sp>
      <p:sp>
        <p:nvSpPr>
          <p:cNvPr id="32" name="Text 27"/>
          <p:cNvSpPr/>
          <p:nvPr/>
        </p:nvSpPr>
        <p:spPr>
          <a:xfrm>
            <a:off x="3502809" y="3255764"/>
            <a:ext cx="1284089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Military-to-civilian translation</a:t>
            </a:r>
            <a:endParaRPr lang="en-US" sz="674" dirty="0"/>
          </a:p>
        </p:txBody>
      </p:sp>
      <p:sp>
        <p:nvSpPr>
          <p:cNvPr id="33" name="Text 28"/>
          <p:cNvSpPr/>
          <p:nvPr/>
        </p:nvSpPr>
        <p:spPr>
          <a:xfrm>
            <a:off x="3395653" y="3425428"/>
            <a:ext cx="4464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34" dirty="0"/>
          </a:p>
        </p:txBody>
      </p:sp>
      <p:sp>
        <p:nvSpPr>
          <p:cNvPr id="34" name="Text 29"/>
          <p:cNvSpPr/>
          <p:nvPr/>
        </p:nvSpPr>
        <p:spPr>
          <a:xfrm>
            <a:off x="3502809" y="3425428"/>
            <a:ext cx="1132284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Career pathway matching</a:t>
            </a:r>
            <a:endParaRPr lang="en-US" sz="674" dirty="0"/>
          </a:p>
        </p:txBody>
      </p:sp>
      <p:sp>
        <p:nvSpPr>
          <p:cNvPr id="35" name="Text 30"/>
          <p:cNvSpPr/>
          <p:nvPr/>
        </p:nvSpPr>
        <p:spPr>
          <a:xfrm>
            <a:off x="3395653" y="3595092"/>
            <a:ext cx="4464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34" dirty="0"/>
          </a:p>
        </p:txBody>
      </p:sp>
      <p:sp>
        <p:nvSpPr>
          <p:cNvPr id="36" name="Text 31"/>
          <p:cNvSpPr/>
          <p:nvPr/>
        </p:nvSpPr>
        <p:spPr>
          <a:xfrm>
            <a:off x="3502809" y="3595092"/>
            <a:ext cx="1089422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Resume content analysis</a:t>
            </a:r>
            <a:endParaRPr lang="en-US" sz="674" dirty="0"/>
          </a:p>
        </p:txBody>
      </p:sp>
      <p:sp>
        <p:nvSpPr>
          <p:cNvPr id="37" name="Shape 32"/>
          <p:cNvSpPr/>
          <p:nvPr/>
        </p:nvSpPr>
        <p:spPr>
          <a:xfrm>
            <a:off x="6076931" y="1107281"/>
            <a:ext cx="2638416" cy="3714750"/>
          </a:xfrm>
          <a:prstGeom prst="rect">
            <a:avLst/>
          </a:prstGeom>
          <a:solidFill>
            <a:srgbClr val="FFFFFF"/>
          </a:solidFill>
          <a:ln w="18288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3"/>
          <p:cNvSpPr/>
          <p:nvPr/>
        </p:nvSpPr>
        <p:spPr>
          <a:xfrm>
            <a:off x="8122472" y="1107281"/>
            <a:ext cx="592931" cy="21967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4"/>
          <p:cNvSpPr/>
          <p:nvPr/>
        </p:nvSpPr>
        <p:spPr>
          <a:xfrm>
            <a:off x="8122472" y="1107281"/>
            <a:ext cx="592931" cy="219670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kern="0" spc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</a:t>
            </a:r>
            <a:endParaRPr lang="en-US" sz="584" dirty="0"/>
          </a:p>
        </p:txBody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4962" y="1348383"/>
            <a:ext cx="321469" cy="285750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6238894" y="1775222"/>
            <a:ext cx="2333634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17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ISR System</a:t>
            </a:r>
            <a:endParaRPr lang="en-US" sz="987" dirty="0"/>
          </a:p>
        </p:txBody>
      </p:sp>
      <p:sp>
        <p:nvSpPr>
          <p:cNvPr id="42" name="Text 36"/>
          <p:cNvSpPr/>
          <p:nvPr/>
        </p:nvSpPr>
        <p:spPr>
          <a:xfrm>
            <a:off x="6238894" y="1991320"/>
            <a:ext cx="233363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7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platform for career counselors to manage transition lifecycles.</a:t>
            </a:r>
            <a:endParaRPr lang="en-US" sz="674" dirty="0"/>
          </a:p>
        </p:txBody>
      </p:sp>
      <p:sp>
        <p:nvSpPr>
          <p:cNvPr id="43" name="Text 37"/>
          <p:cNvSpPr/>
          <p:nvPr/>
        </p:nvSpPr>
        <p:spPr>
          <a:xfrm>
            <a:off x="6238894" y="2577108"/>
            <a:ext cx="2333634" cy="132159"/>
          </a:xfrm>
          <a:prstGeom prst="rect">
            <a:avLst/>
          </a:prstGeom>
          <a:noFill/>
          <a:ln/>
        </p:spPr>
        <p:txBody>
          <a:bodyPr wrap="none" lIns="0" tIns="0" rIns="0" bIns="34036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34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USERS</a:t>
            </a:r>
            <a:endParaRPr lang="en-US" sz="534" dirty="0"/>
          </a:p>
        </p:txBody>
      </p:sp>
      <p:sp>
        <p:nvSpPr>
          <p:cNvPr id="44" name="Text 38"/>
          <p:cNvSpPr/>
          <p:nvPr/>
        </p:nvSpPr>
        <p:spPr>
          <a:xfrm>
            <a:off x="6238894" y="2766417"/>
            <a:ext cx="233363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Career Advisors | Counselors</a:t>
            </a:r>
            <a:endParaRPr lang="en-US" sz="683" dirty="0"/>
          </a:p>
        </p:txBody>
      </p:sp>
      <p:sp>
        <p:nvSpPr>
          <p:cNvPr id="45" name="Text 39"/>
          <p:cNvSpPr/>
          <p:nvPr/>
        </p:nvSpPr>
        <p:spPr>
          <a:xfrm>
            <a:off x="6238894" y="3030736"/>
            <a:ext cx="2333634" cy="132159"/>
          </a:xfrm>
          <a:prstGeom prst="rect">
            <a:avLst/>
          </a:prstGeom>
          <a:noFill/>
          <a:ln/>
        </p:spPr>
        <p:txBody>
          <a:bodyPr wrap="none" lIns="0" tIns="0" rIns="0" bIns="34036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34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FEATURES</a:t>
            </a:r>
            <a:endParaRPr lang="en-US" sz="534" dirty="0"/>
          </a:p>
        </p:txBody>
      </p:sp>
      <p:sp>
        <p:nvSpPr>
          <p:cNvPr id="46" name="Text 40"/>
          <p:cNvSpPr/>
          <p:nvPr/>
        </p:nvSpPr>
        <p:spPr>
          <a:xfrm>
            <a:off x="6238894" y="3220045"/>
            <a:ext cx="4464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34" dirty="0"/>
          </a:p>
        </p:txBody>
      </p:sp>
      <p:sp>
        <p:nvSpPr>
          <p:cNvPr id="47" name="Text 41"/>
          <p:cNvSpPr/>
          <p:nvPr/>
        </p:nvSpPr>
        <p:spPr>
          <a:xfrm>
            <a:off x="6346050" y="3220045"/>
            <a:ext cx="1326952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member pipeline view</a:t>
            </a:r>
            <a:endParaRPr lang="en-US" sz="674" dirty="0"/>
          </a:p>
        </p:txBody>
      </p:sp>
      <p:sp>
        <p:nvSpPr>
          <p:cNvPr id="48" name="Text 42"/>
          <p:cNvSpPr/>
          <p:nvPr/>
        </p:nvSpPr>
        <p:spPr>
          <a:xfrm>
            <a:off x="6238894" y="3389709"/>
            <a:ext cx="4464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34" dirty="0"/>
          </a:p>
        </p:txBody>
      </p:sp>
      <p:sp>
        <p:nvSpPr>
          <p:cNvPr id="49" name="Text 43"/>
          <p:cNvSpPr/>
          <p:nvPr/>
        </p:nvSpPr>
        <p:spPr>
          <a:xfrm>
            <a:off x="6346050" y="3389709"/>
            <a:ext cx="1003697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Detailed profile access</a:t>
            </a:r>
            <a:endParaRPr lang="en-US" sz="674" dirty="0"/>
          </a:p>
        </p:txBody>
      </p:sp>
      <p:sp>
        <p:nvSpPr>
          <p:cNvPr id="50" name="Text 44"/>
          <p:cNvSpPr/>
          <p:nvPr/>
        </p:nvSpPr>
        <p:spPr>
          <a:xfrm>
            <a:off x="6238894" y="3559373"/>
            <a:ext cx="4464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34" dirty="0"/>
          </a:p>
        </p:txBody>
      </p:sp>
      <p:sp>
        <p:nvSpPr>
          <p:cNvPr id="51" name="Text 45"/>
          <p:cNvSpPr/>
          <p:nvPr/>
        </p:nvSpPr>
        <p:spPr>
          <a:xfrm>
            <a:off x="6346050" y="3559373"/>
            <a:ext cx="1296591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notes &amp; audit logging</a:t>
            </a:r>
            <a:endParaRPr lang="en-US" sz="674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828675"/>
            <a:ext cx="9144000" cy="28575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28625" y="171450"/>
            <a:ext cx="8286750" cy="3232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kern="0" spc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DEMONSTRATION AND RESOURCES</a:t>
            </a:r>
            <a:endParaRPr lang="en-US" sz="1808" dirty="0"/>
          </a:p>
        </p:txBody>
      </p:sp>
      <p:sp>
        <p:nvSpPr>
          <p:cNvPr id="6" name="Text 3"/>
          <p:cNvSpPr/>
          <p:nvPr/>
        </p:nvSpPr>
        <p:spPr>
          <a:xfrm>
            <a:off x="428625" y="530423"/>
            <a:ext cx="82867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Career Mobility Governance Framework (CMGF)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428625" y="1214438"/>
            <a:ext cx="46291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B4530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Interactive Demo and Downloads</a:t>
            </a:r>
            <a:endParaRPr lang="en-US" sz="1193" dirty="0"/>
          </a:p>
        </p:txBody>
      </p:sp>
      <p:sp>
        <p:nvSpPr>
          <p:cNvPr id="8" name="Shape 5"/>
          <p:cNvSpPr/>
          <p:nvPr/>
        </p:nvSpPr>
        <p:spPr>
          <a:xfrm>
            <a:off x="428625" y="1571625"/>
            <a:ext cx="4629150" cy="458986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28625" y="1571625"/>
            <a:ext cx="28575" cy="45898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28625" y="1571625"/>
            <a:ext cx="4629150" cy="458986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robertmccoyprojects.com/research/cmgf</a:t>
            </a:r>
            <a:endParaRPr lang="en-US" sz="987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2265462"/>
            <a:ext cx="142875" cy="1143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78656" y="2244923"/>
            <a:ext cx="240565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CMGF advisory environment</a:t>
            </a:r>
            <a:endParaRPr lang="en-US" sz="942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2527995"/>
            <a:ext cx="85725" cy="1143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1506" y="2507456"/>
            <a:ext cx="280749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 and design methodology artifacts</a:t>
            </a:r>
            <a:endParaRPr lang="en-US" sz="942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" y="2790527"/>
            <a:ext cx="128588" cy="1143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64369" y="2769989"/>
            <a:ext cx="357366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documentation (CMGF-00 through CMGF-03)</a:t>
            </a:r>
            <a:endParaRPr lang="en-US" sz="942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625" y="3053060"/>
            <a:ext cx="142875" cy="1143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78656" y="3032522"/>
            <a:ext cx="287535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Presentation materials and supporting research</a:t>
            </a:r>
            <a:endParaRPr lang="en-US" sz="942" dirty="0"/>
          </a:p>
        </p:txBody>
      </p:sp>
      <p:sp>
        <p:nvSpPr>
          <p:cNvPr id="19" name="Text 12"/>
          <p:cNvSpPr/>
          <p:nvPr/>
        </p:nvSpPr>
        <p:spPr>
          <a:xfrm>
            <a:off x="428625" y="4327327"/>
            <a:ext cx="4629150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17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Robert McCoy</a:t>
            </a:r>
            <a:endParaRPr lang="en-US" sz="987" dirty="0"/>
          </a:p>
        </p:txBody>
      </p:sp>
      <p:sp>
        <p:nvSpPr>
          <p:cNvPr id="20" name="Text 13"/>
          <p:cNvSpPr/>
          <p:nvPr/>
        </p:nvSpPr>
        <p:spPr>
          <a:xfrm>
            <a:off x="428625" y="4543425"/>
            <a:ext cx="462915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Indiana Wesleyan University
AI Governance &amp; Military Transition Research</a:t>
            </a:r>
            <a:endParaRPr lang="en-US" sz="727" dirty="0"/>
          </a:p>
        </p:txBody>
      </p:sp>
      <p:sp>
        <p:nvSpPr>
          <p:cNvPr id="21" name="Shape 14"/>
          <p:cNvSpPr/>
          <p:nvPr/>
        </p:nvSpPr>
        <p:spPr>
          <a:xfrm>
            <a:off x="5486400" y="857250"/>
            <a:ext cx="3657600" cy="428625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5"/>
          <p:cNvSpPr/>
          <p:nvPr/>
        </p:nvSpPr>
        <p:spPr>
          <a:xfrm>
            <a:off x="5486400" y="857250"/>
            <a:ext cx="28575" cy="428625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6"/>
          <p:cNvSpPr/>
          <p:nvPr/>
        </p:nvSpPr>
        <p:spPr>
          <a:xfrm>
            <a:off x="6100763" y="1552873"/>
            <a:ext cx="2428875" cy="24288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3638" y="1695748"/>
            <a:ext cx="2143125" cy="2143125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758880" y="4196060"/>
            <a:ext cx="1112639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kern="0" spc="2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SCAN ME!</a:t>
            </a:r>
            <a:endParaRPr lang="en-US" sz="139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3849</TotalTime>
  <Words>830</Words>
  <Application>Microsoft Office PowerPoint</Application>
  <PresentationFormat>On-screen Show (16:9)</PresentationFormat>
  <Paragraphs>154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Inter</vt:lpstr>
      <vt:lpstr>Merriweather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Robert McCoy</cp:lastModifiedBy>
  <cp:revision>8</cp:revision>
  <dcterms:created xsi:type="dcterms:W3CDTF">2026-03-02T01:37:46Z</dcterms:created>
  <dcterms:modified xsi:type="dcterms:W3CDTF">2026-03-25T15:50:54Z</dcterms:modified>
</cp:coreProperties>
</file>